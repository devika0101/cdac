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5" r:id="rId5"/>
    <p:sldId id="258" r:id="rId6"/>
    <p:sldId id="276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65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bp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65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23T13:11:44.287" idx="1">
    <p:pos x="10" y="10"/>
    <p:text/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3780" y="1438204"/>
            <a:ext cx="8255634" cy="781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6759" y="2379829"/>
            <a:ext cx="5124450" cy="159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8629" y="2428728"/>
            <a:ext cx="7122795" cy="145923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801495" marR="5080" indent="-1789430">
              <a:lnSpc>
                <a:spcPts val="5340"/>
              </a:lnSpc>
              <a:spcBef>
                <a:spcPts val="780"/>
              </a:spcBef>
            </a:pPr>
            <a:r>
              <a:rPr b="1" dirty="0">
                <a:latin typeface="Calibri" panose="020F0502020204030204"/>
                <a:cs typeface="Calibri" panose="020F0502020204030204"/>
              </a:rPr>
              <a:t>Monte</a:t>
            </a:r>
            <a:r>
              <a:rPr b="1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latin typeface="Calibri" panose="020F0502020204030204"/>
                <a:cs typeface="Calibri" panose="020F0502020204030204"/>
              </a:rPr>
              <a:t>Carlo</a:t>
            </a:r>
            <a:r>
              <a:rPr b="1" spc="-130" dirty="0">
                <a:latin typeface="Calibri" panose="020F0502020204030204"/>
                <a:cs typeface="Calibri" panose="020F0502020204030204"/>
              </a:rPr>
              <a:t> </a:t>
            </a:r>
            <a:r>
              <a:rPr b="1" dirty="0">
                <a:latin typeface="Calibri" panose="020F0502020204030204"/>
                <a:cs typeface="Calibri" panose="020F0502020204030204"/>
              </a:rPr>
              <a:t>Simulation</a:t>
            </a:r>
            <a:r>
              <a:rPr b="1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b="1" dirty="0">
                <a:latin typeface="Calibri" panose="020F0502020204030204"/>
                <a:cs typeface="Calibri" panose="020F0502020204030204"/>
              </a:rPr>
              <a:t>Financial</a:t>
            </a:r>
            <a:r>
              <a:rPr b="1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20" dirty="0">
                <a:latin typeface="Calibri" panose="020F0502020204030204"/>
                <a:cs typeface="Calibri" panose="020F0502020204030204"/>
              </a:rPr>
              <a:t>Risk</a:t>
            </a:r>
            <a:endParaRPr b="1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525" y="5791200"/>
            <a:ext cx="2301875" cy="176974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lang="en-US" altLang="" sz="1950" dirty="0">
                <a:latin typeface="Microsoft Sans Serif" panose="020B0604020202020204"/>
                <a:cs typeface="Microsoft Sans Serif" panose="020B0604020202020204"/>
              </a:rPr>
              <a:t>Presented By:</a:t>
            </a:r>
            <a:endParaRPr lang="en-US" altLang="" sz="1950" dirty="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Bindu</a:t>
            </a:r>
            <a:r>
              <a:rPr lang="en-US" altLang="" sz="19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-</a:t>
            </a:r>
            <a:r>
              <a:rPr sz="1950" spc="5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25" dirty="0">
                <a:latin typeface="Microsoft Sans Serif" panose="020B0604020202020204"/>
                <a:cs typeface="Microsoft Sans Serif" panose="020B0604020202020204"/>
              </a:rPr>
              <a:t>04</a:t>
            </a:r>
            <a:r>
              <a:rPr lang="en-US" altLang="" sz="1950" spc="-25" dirty="0">
                <a:latin typeface="Microsoft Sans Serif" panose="020B0604020202020204"/>
                <a:cs typeface="Microsoft Sans Serif" panose="020B0604020202020204"/>
              </a:rPr>
              <a:t>4</a:t>
            </a:r>
            <a:endParaRPr sz="195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Priya</a:t>
            </a:r>
            <a:r>
              <a:rPr lang="en-US" altLang="" sz="19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-</a:t>
            </a:r>
            <a:r>
              <a:rPr sz="1950" spc="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25" dirty="0">
                <a:latin typeface="Microsoft Sans Serif" panose="020B0604020202020204"/>
                <a:cs typeface="Microsoft Sans Serif" panose="020B0604020202020204"/>
              </a:rPr>
              <a:t>094</a:t>
            </a:r>
            <a:endParaRPr sz="195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Devika</a:t>
            </a:r>
            <a:r>
              <a:rPr sz="1950" spc="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-</a:t>
            </a:r>
            <a:r>
              <a:rPr sz="1950" spc="6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25" dirty="0">
                <a:latin typeface="Microsoft Sans Serif" panose="020B0604020202020204"/>
                <a:cs typeface="Microsoft Sans Serif" panose="020B0604020202020204"/>
              </a:rPr>
              <a:t>022</a:t>
            </a:r>
            <a:endParaRPr sz="195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Nitin</a:t>
            </a:r>
            <a:r>
              <a:rPr sz="1950" spc="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dirty="0">
                <a:latin typeface="Microsoft Sans Serif" panose="020B0604020202020204"/>
                <a:cs typeface="Microsoft Sans Serif" panose="020B0604020202020204"/>
              </a:rPr>
              <a:t>-</a:t>
            </a:r>
            <a:r>
              <a:rPr sz="1950" spc="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950" spc="-25" dirty="0">
                <a:latin typeface="Microsoft Sans Serif" panose="020B0604020202020204"/>
                <a:cs typeface="Microsoft Sans Serif" panose="020B0604020202020204"/>
              </a:rPr>
              <a:t>099</a:t>
            </a:r>
            <a:endParaRPr sz="19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467346" y="456945"/>
            <a:ext cx="1799844" cy="15179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2175" y="3962400"/>
            <a:ext cx="3994403" cy="143865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781800" y="6629400"/>
            <a:ext cx="2985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Guide - Siddhanth Gedam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9595" y="1447800"/>
            <a:ext cx="7768590" cy="1683385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99695" indent="-95250" algn="l">
              <a:lnSpc>
                <a:spcPct val="100000"/>
              </a:lnSpc>
              <a:spcBef>
                <a:spcPts val="130"/>
              </a:spcBef>
              <a:buSzPct val="95000"/>
              <a:buChar char="•"/>
              <a:tabLst>
                <a:tab pos="99695" algn="l"/>
              </a:tabLst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685800" y="609287"/>
            <a:ext cx="8115300" cy="6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400" b="1" spc="-288">
                <a:solidFill>
                  <a:schemeClr val="tx1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                          Introduction</a:t>
            </a:r>
            <a:endParaRPr lang="en-US" sz="4400" b="1" spc="-288">
              <a:solidFill>
                <a:schemeClr val="tx1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199390" y="1524000"/>
            <a:ext cx="7109460" cy="430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800" b="1">
                <a:solidFill>
                  <a:schemeClr val="tx1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 Monte Carlo Simulation</a:t>
            </a:r>
            <a:endParaRPr lang="en-US" sz="2800" b="1">
              <a:solidFill>
                <a:schemeClr val="tx1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</p:txBody>
      </p:sp>
      <p:sp>
        <p:nvSpPr>
          <p:cNvPr id="11" name="TextBox 4"/>
          <p:cNvSpPr txBox="1"/>
          <p:nvPr/>
        </p:nvSpPr>
        <p:spPr>
          <a:xfrm>
            <a:off x="116428" y="2285687"/>
            <a:ext cx="9825474" cy="75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Font typeface="Arial" panose="020B0604020202020204"/>
              <a:buChar char="•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Monte Carlo is a method of solving a problem by using random numbers.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453390" lvl="1" indent="-226695" algn="l">
              <a:lnSpc>
                <a:spcPts val="2940"/>
              </a:lnSpc>
              <a:buFont typeface="Arial" panose="020B0604020202020204"/>
              <a:buChar char="•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Simulation is the process of running that method on a computer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</p:txBody>
      </p:sp>
      <p:sp>
        <p:nvSpPr>
          <p:cNvPr id="12" name="TextBox 5"/>
          <p:cNvSpPr txBox="1"/>
          <p:nvPr/>
        </p:nvSpPr>
        <p:spPr>
          <a:xfrm>
            <a:off x="12698616" y="8984615"/>
            <a:ext cx="4560684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3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</p:txBody>
      </p:sp>
      <p:sp>
        <p:nvSpPr>
          <p:cNvPr id="13" name="TextBox 6"/>
          <p:cNvSpPr txBox="1"/>
          <p:nvPr/>
        </p:nvSpPr>
        <p:spPr>
          <a:xfrm>
            <a:off x="76200" y="3505320"/>
            <a:ext cx="11837923" cy="3923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1.Monte Carlo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471805" lvl="1" indent="-236220" algn="l">
              <a:lnSpc>
                <a:spcPts val="3060"/>
              </a:lnSpc>
              <a:buFont typeface="Arial" panose="020B0604020202020204"/>
              <a:buChar char="•"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Refers to the method or technique itself.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471805" lvl="1" indent="-236220" algn="l">
              <a:lnSpc>
                <a:spcPts val="3060"/>
              </a:lnSpc>
              <a:buFont typeface="Arial" panose="020B0604020202020204"/>
              <a:buChar char="•"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It’s the idea of using random numbers to solve problems.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471805" lvl="1" indent="-236220" algn="l">
              <a:lnSpc>
                <a:spcPts val="3060"/>
              </a:lnSpc>
              <a:buFont typeface="Arial" panose="020B0604020202020204"/>
              <a:buChar char="•"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Think of it as the concept: “We will use randomness to estimate things.”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algn="l">
              <a:lnSpc>
                <a:spcPts val="3060"/>
              </a:lnSpc>
            </a:pP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ts val="3060"/>
              </a:lnSpc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2. Monte Carlo Simulation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471805" lvl="1" indent="-236220" algn="l">
              <a:lnSpc>
                <a:spcPts val="3060"/>
              </a:lnSpc>
              <a:buFont typeface="Arial" panose="020B0604020202020204"/>
              <a:buChar char="•"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Refers to actually doing it on a computer.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471805" lvl="1" indent="-236220" algn="l">
              <a:lnSpc>
                <a:spcPts val="3060"/>
              </a:lnSpc>
              <a:buFont typeface="Arial" panose="020B0604020202020204"/>
              <a:buChar char="•"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You create a simulation (pretend experiment) and run many random trials.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471805" lvl="1" indent="-236220" algn="l">
              <a:lnSpc>
                <a:spcPts val="3060"/>
              </a:lnSpc>
              <a:buFont typeface="Arial" panose="020B0604020202020204"/>
              <a:buChar char="•"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It’s Monte Carlo in action.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algn="l">
              <a:lnSpc>
                <a:spcPts val="3060"/>
              </a:lnSpc>
              <a:spcBef>
                <a:spcPct val="0"/>
              </a:spcBef>
            </a:pPr>
            <a:endParaRPr lang="en-US" sz="2000">
              <a:solidFill>
                <a:schemeClr val="tx1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630" y="1425504"/>
            <a:ext cx="8255634" cy="615315"/>
          </a:xfrm>
        </p:spPr>
        <p:txBody>
          <a:bodyPr/>
          <a:p>
            <a:r>
              <a:rPr lang="en-US" sz="4000" b="1">
                <a:solidFill>
                  <a:schemeClr val="tx1"/>
                </a:solidFill>
                <a:latin typeface="Times New Roman" panose="02020603050405020304" charset="0"/>
                <a:ea typeface="Open Sauce Bold" panose="00000800000000000000"/>
                <a:cs typeface="Times New Roman" panose="02020603050405020304" charset="0"/>
                <a:sym typeface="Open Sauce Bold" panose="00000800000000000000"/>
              </a:rPr>
              <a:t>Why Random Numbers</a:t>
            </a:r>
            <a:endParaRPr lang="en-US" sz="4000" b="1">
              <a:solidFill>
                <a:schemeClr val="tx1"/>
              </a:solidFill>
              <a:latin typeface="Times New Roman" panose="02020603050405020304" charset="0"/>
              <a:ea typeface="Open Sauce Bold" panose="00000800000000000000"/>
              <a:cs typeface="Times New Roman" panose="02020603050405020304" charset="0"/>
              <a:sym typeface="Open Sauce Bold" panose="0000080000000000000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6595" y="2379980"/>
            <a:ext cx="7992745" cy="4431665"/>
          </a:xfrm>
        </p:spPr>
        <p:txBody>
          <a:bodyPr wrap="square"/>
          <a:p>
            <a:pPr>
              <a:lnSpc>
                <a:spcPts val="3840"/>
              </a:lnSpc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Monte Carlo uses random numbers to: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>
              <a:lnSpc>
                <a:spcPts val="3840"/>
              </a:lnSpc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1.Create random situations (like rolling dice, choosing random inputs).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>
              <a:lnSpc>
                <a:spcPts val="3840"/>
              </a:lnSpc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2.Run the simulation many times with different random numbers.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>
              <a:lnSpc>
                <a:spcPts val="3840"/>
              </a:lnSpc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3.Then, take the average of results to estimate the real answer.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Open Sauce Bold" panose="00000800000000000000"/>
                <a:cs typeface="Times New Roman" panose="02020603050405020304" charset="0"/>
                <a:sym typeface="Open Sauce Bold" panose="00000800000000000000"/>
              </a:rPr>
              <a:t>Steps in Monte Carlo Simulation</a:t>
            </a:r>
            <a:endParaRPr lang="en-US" sz="2000" b="1">
              <a:solidFill>
                <a:schemeClr val="tx1"/>
              </a:solidFill>
              <a:latin typeface="Times New Roman" panose="02020603050405020304" charset="0"/>
              <a:ea typeface="Open Sauce Bold" panose="00000800000000000000"/>
              <a:cs typeface="Times New Roman" panose="02020603050405020304" charset="0"/>
              <a:sym typeface="Open Sauce Bold" panose="00000800000000000000"/>
            </a:endParaRPr>
          </a:p>
          <a:p>
            <a:endParaRPr lang="en-US" sz="2000" b="1">
              <a:solidFill>
                <a:srgbClr val="8C7753"/>
              </a:solidFill>
              <a:latin typeface="Times New Roman" panose="02020603050405020304" charset="0"/>
              <a:ea typeface="Open Sauce Bold" panose="00000800000000000000"/>
              <a:cs typeface="Times New Roman" panose="02020603050405020304" charset="0"/>
              <a:sym typeface="Open Sauce Bold" panose="0000080000000000000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Model the problem → Convert to math (e.g., stock price model).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Generate random inputs → Simulate different outcomes.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Run many trials → Thousands or millions of times.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Analyze results → Average, probability, or risk.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12698616" y="8984615"/>
            <a:ext cx="4560684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331B0D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11</a:t>
            </a:r>
            <a:endParaRPr lang="en-US" sz="1600">
              <a:solidFill>
                <a:srgbClr val="331B0D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35" y="761929"/>
            <a:ext cx="8255634" cy="774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</a:t>
            </a:r>
            <a:r>
              <a:rPr lang="en-US" dirty="0"/>
              <a:t>roject Goal</a:t>
            </a:r>
            <a:endParaRPr lang="en-US"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752600"/>
            <a:ext cx="7131685" cy="4373880"/>
          </a:xfrm>
          <a:prstGeom prst="rect">
            <a:avLst/>
          </a:prstGeom>
        </p:spPr>
        <p:txBody>
          <a:bodyPr vert="horz" wrap="square" lIns="0" tIns="14604" rIns="0" bIns="0" rtlCol="0">
            <a:noAutofit/>
          </a:bodyPr>
          <a:lstStyle/>
          <a:p>
            <a:pPr algn="l">
              <a:lnSpc>
                <a:spcPct val="138000"/>
              </a:lnSpc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Simulate financial scenarios using computers to: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498475" lvl="1" indent="-249555" algn="l">
              <a:lnSpc>
                <a:spcPct val="138000"/>
              </a:lnSpc>
              <a:buAutoNum type="arabicPeriod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Price financial options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498475" lvl="1" indent="-249555" algn="l">
              <a:lnSpc>
                <a:spcPct val="138000"/>
              </a:lnSpc>
              <a:buAutoNum type="arabicPeriod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Calculate Value at Risk (VaR) – worst-case losses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498475" lvl="1" indent="-249555" algn="l">
              <a:lnSpc>
                <a:spcPct val="138000"/>
              </a:lnSpc>
              <a:buAutoNum type="arabicPeriod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Perform risk analysis under different market conditions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248920" lvl="1" indent="0" algn="l">
              <a:lnSpc>
                <a:spcPct val="138000"/>
              </a:lnSpc>
              <a:buNone/>
            </a:pPr>
            <a:endParaRPr sz="2300" dirty="0">
              <a:latin typeface="Microsoft Sans Serif" panose="020B0604020202020204"/>
              <a:cs typeface="Microsoft Sans Serif" panose="020B0604020202020204"/>
            </a:endParaRPr>
          </a:p>
          <a:p>
            <a:pPr marL="114935" indent="-111125">
              <a:lnSpc>
                <a:spcPct val="138000"/>
              </a:lnSpc>
              <a:spcBef>
                <a:spcPts val="115"/>
              </a:spcBef>
              <a:buSzPct val="96000"/>
              <a:buChar char="•"/>
              <a:tabLst>
                <a:tab pos="114935" algn="l"/>
              </a:tabLst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Monte</a:t>
            </a:r>
            <a:r>
              <a:rPr sz="2000" b="1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Carlo</a:t>
            </a:r>
            <a:r>
              <a:rPr sz="2000" b="1" spc="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simulations</a:t>
            </a:r>
            <a:r>
              <a:rPr sz="2000" b="1" spc="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20" dirty="0">
                <a:latin typeface="Times New Roman" panose="02020603050405020304" charset="0"/>
                <a:cs typeface="Times New Roman" panose="02020603050405020304" charset="0"/>
              </a:rPr>
              <a:t>are:</a:t>
            </a: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38000"/>
              </a:lnSpc>
              <a:spcBef>
                <a:spcPts val="10"/>
              </a:spcBef>
              <a:buSzPct val="96000"/>
              <a:buChar char="•"/>
              <a:tabLst>
                <a:tab pos="11493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Computationally</a:t>
            </a:r>
            <a:r>
              <a:rPr sz="2000" spc="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intensive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38000"/>
              </a:lnSpc>
              <a:spcBef>
                <a:spcPts val="15"/>
              </a:spcBef>
              <a:buSzPct val="96000"/>
              <a:buChar char="•"/>
              <a:tabLst>
                <a:tab pos="114935" algn="l"/>
              </a:tabLst>
            </a:pPr>
            <a:r>
              <a:rPr sz="2000" spc="-20" dirty="0">
                <a:latin typeface="Times New Roman" panose="02020603050405020304" charset="0"/>
                <a:cs typeface="Times New Roman" panose="02020603050405020304" charset="0"/>
              </a:rPr>
              <a:t>Time-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consuming</a:t>
            </a:r>
            <a:r>
              <a:rPr sz="2000" spc="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000" spc="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large</a:t>
            </a:r>
            <a:r>
              <a:rPr sz="2000" spc="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datasets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38000"/>
              </a:lnSpc>
              <a:spcBef>
                <a:spcPts val="10"/>
              </a:spcBef>
              <a:buSzPct val="96000"/>
              <a:buChar char="•"/>
              <a:tabLst>
                <a:tab pos="114935" algn="l"/>
              </a:tabLst>
            </a:pP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Need</a:t>
            </a:r>
            <a:r>
              <a:rPr sz="2000" spc="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efficient</a:t>
            </a:r>
            <a:r>
              <a:rPr sz="2000" spc="-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parallel</a:t>
            </a:r>
            <a:r>
              <a:rPr sz="2000" spc="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latin typeface="Times New Roman" panose="02020603050405020304" charset="0"/>
                <a:cs typeface="Times New Roman" panose="02020603050405020304" charset="0"/>
              </a:rPr>
              <a:t>implementations</a:t>
            </a:r>
            <a:r>
              <a:rPr sz="2000" spc="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</a:rPr>
              <a:t>using: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-111125">
              <a:lnSpc>
                <a:spcPct val="138000"/>
              </a:lnSpc>
              <a:spcBef>
                <a:spcPts val="15"/>
              </a:spcBef>
              <a:buSzPct val="96000"/>
              <a:buFont typeface="Microsoft Sans Serif" panose="020B0604020202020204"/>
              <a:buChar char="•"/>
              <a:tabLst>
                <a:tab pos="114300" algn="l"/>
              </a:tabLst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OpenMP</a:t>
            </a:r>
            <a:r>
              <a:rPr sz="2000" b="1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(Shared</a:t>
            </a:r>
            <a:r>
              <a:rPr sz="2000" b="1" spc="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Memory)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-111125">
              <a:lnSpc>
                <a:spcPct val="138000"/>
              </a:lnSpc>
              <a:spcBef>
                <a:spcPts val="10"/>
              </a:spcBef>
              <a:buSzPct val="96000"/>
              <a:buFont typeface="Microsoft Sans Serif" panose="020B0604020202020204"/>
              <a:buChar char="•"/>
              <a:tabLst>
                <a:tab pos="114300" algn="l"/>
              </a:tabLst>
            </a:pP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MPI</a:t>
            </a:r>
            <a:r>
              <a:rPr sz="2000" b="1" spc="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dirty="0">
                <a:latin typeface="Times New Roman" panose="02020603050405020304" charset="0"/>
                <a:cs typeface="Times New Roman" panose="02020603050405020304" charset="0"/>
              </a:rPr>
              <a:t>(Distributed</a:t>
            </a:r>
            <a:r>
              <a:rPr sz="2000" b="1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b="1" spc="-10" dirty="0">
                <a:latin typeface="Times New Roman" panose="02020603050405020304" charset="0"/>
                <a:cs typeface="Times New Roman" panose="02020603050405020304" charset="0"/>
              </a:rPr>
              <a:t>Memory)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35" y="609529"/>
            <a:ext cx="8255634" cy="615315"/>
          </a:xfrm>
        </p:spPr>
        <p:txBody>
          <a:bodyPr/>
          <a:p>
            <a:r>
              <a:rPr lang="en-US" sz="4000"/>
              <a:t>Why Parallesim</a:t>
            </a:r>
            <a:endParaRPr lang="en-US" sz="40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9111615" cy="3804920"/>
          </a:xfrm>
        </p:spPr>
        <p:txBody>
          <a:bodyPr wrap="square">
            <a:noAutofit/>
          </a:bodyPr>
          <a:p>
            <a:pPr marL="496570" lvl="1" indent="-248285" algn="l">
              <a:lnSpc>
                <a:spcPts val="3680"/>
              </a:lnSpc>
              <a:buFont typeface="Arial" panose="020B0604020202020204"/>
              <a:buChar char="•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Monte Carlo needs millions of random simulations, which takes time.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496570" lvl="1" indent="-248285" algn="l">
              <a:lnSpc>
                <a:spcPts val="3680"/>
              </a:lnSpc>
              <a:buFont typeface="Arial" panose="020B0604020202020204"/>
              <a:buChar char="•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This project uses: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993140" lvl="2" indent="-330835" algn="l">
              <a:lnSpc>
                <a:spcPts val="3680"/>
              </a:lnSpc>
              <a:buFont typeface="Arial" panose="020B0604020202020204"/>
              <a:buChar char="⚬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MPI (Message Passing Interface) → to run simulations across multiple computers or nodes.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993140" lvl="2" indent="-330835" algn="l">
              <a:lnSpc>
                <a:spcPts val="3680"/>
              </a:lnSpc>
              <a:buFont typeface="Arial" panose="020B0604020202020204"/>
              <a:buChar char="⚬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OpenMP → to run simulations on multiple CPU cores of a single machine.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993140" lvl="2" indent="-330835" algn="l">
              <a:lnSpc>
                <a:spcPts val="3680"/>
              </a:lnSpc>
              <a:buFont typeface="Arial" panose="020B0604020202020204"/>
              <a:buChar char="⚬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GPU acceleration → to run thousands of computations simultaneously on the GPU.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35" y="990529"/>
            <a:ext cx="825563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0" dirty="0"/>
              <a:t>Objectives</a:t>
            </a:r>
            <a:endParaRPr sz="40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2286000"/>
            <a:ext cx="7521575" cy="377888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85090" indent="-80645">
              <a:lnSpc>
                <a:spcPct val="100000"/>
              </a:lnSpc>
              <a:spcBef>
                <a:spcPts val="105"/>
              </a:spcBef>
              <a:buSzPct val="94000"/>
              <a:buChar char="•"/>
              <a:tabLst>
                <a:tab pos="85090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Implement</a:t>
            </a:r>
            <a:r>
              <a:rPr sz="24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Monte</a:t>
            </a:r>
            <a:r>
              <a:rPr sz="24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Carlo</a:t>
            </a:r>
            <a:r>
              <a:rPr sz="24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simulation</a:t>
            </a:r>
            <a:r>
              <a:rPr sz="24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40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financial</a:t>
            </a:r>
            <a:r>
              <a:rPr sz="24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20" dirty="0">
                <a:latin typeface="Times New Roman" panose="02020603050405020304" charset="0"/>
                <a:cs typeface="Times New Roman" panose="02020603050405020304" charset="0"/>
              </a:rPr>
              <a:t>risk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85090" indent="-80645">
              <a:lnSpc>
                <a:spcPct val="100000"/>
              </a:lnSpc>
              <a:buSzPct val="94000"/>
              <a:buChar char="•"/>
              <a:tabLst>
                <a:tab pos="85090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Parallelize</a:t>
            </a:r>
            <a:r>
              <a:rPr sz="24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4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simulation</a:t>
            </a:r>
            <a:r>
              <a:rPr sz="24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using: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85090" indent="-80645">
              <a:lnSpc>
                <a:spcPct val="100000"/>
              </a:lnSpc>
              <a:buSzPct val="94000"/>
              <a:buChar char="•"/>
              <a:tabLst>
                <a:tab pos="85090" algn="l"/>
              </a:tabLst>
            </a:pP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OpenMP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85090" indent="-80645">
              <a:lnSpc>
                <a:spcPct val="100000"/>
              </a:lnSpc>
              <a:buSzPct val="94000"/>
              <a:buChar char="•"/>
              <a:tabLst>
                <a:tab pos="85090" algn="l"/>
              </a:tabLst>
            </a:pPr>
            <a:r>
              <a:rPr sz="2400" spc="-25" dirty="0">
                <a:latin typeface="Times New Roman" panose="02020603050405020304" charset="0"/>
                <a:cs typeface="Times New Roman" panose="02020603050405020304" charset="0"/>
              </a:rPr>
              <a:t>MPI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85090" indent="-80645">
              <a:lnSpc>
                <a:spcPct val="100000"/>
              </a:lnSpc>
              <a:buSzPct val="94000"/>
              <a:buChar char="•"/>
              <a:tabLst>
                <a:tab pos="85090" algn="l"/>
              </a:tabLst>
            </a:pP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Compare: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85090" indent="-80645">
              <a:lnSpc>
                <a:spcPct val="100000"/>
              </a:lnSpc>
              <a:buSzPct val="94000"/>
              <a:buChar char="•"/>
              <a:tabLst>
                <a:tab pos="85090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Execution</a:t>
            </a:r>
            <a:r>
              <a:rPr sz="24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20" dirty="0">
                <a:latin typeface="Times New Roman" panose="02020603050405020304" charset="0"/>
                <a:cs typeface="Times New Roman" panose="02020603050405020304" charset="0"/>
              </a:rPr>
              <a:t>time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85090" indent="-80645">
              <a:lnSpc>
                <a:spcPct val="100000"/>
              </a:lnSpc>
              <a:buSzPct val="94000"/>
              <a:buChar char="•"/>
              <a:tabLst>
                <a:tab pos="85090" algn="l"/>
              </a:tabLst>
            </a:pP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Speedup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85090" indent="-80645">
              <a:lnSpc>
                <a:spcPct val="100000"/>
              </a:lnSpc>
              <a:buSzPct val="94000"/>
              <a:buChar char="•"/>
              <a:tabLst>
                <a:tab pos="85090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Analyze</a:t>
            </a:r>
            <a:r>
              <a:rPr sz="24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performance</a:t>
            </a:r>
            <a:r>
              <a:rPr sz="24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differences</a:t>
            </a:r>
            <a:endParaRPr sz="24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35" y="914329"/>
            <a:ext cx="8255634" cy="673100"/>
          </a:xfrm>
          <a:prstGeom prst="rect">
            <a:avLst/>
          </a:prstGeom>
        </p:spPr>
        <p:txBody>
          <a:bodyPr vert="horz" wrap="square" lIns="0" tIns="584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Monte</a:t>
            </a:r>
            <a:r>
              <a:rPr sz="4000" spc="-110" dirty="0"/>
              <a:t> </a:t>
            </a:r>
            <a:r>
              <a:rPr sz="4000" dirty="0"/>
              <a:t>Carlo</a:t>
            </a:r>
            <a:r>
              <a:rPr sz="4000" spc="-110" dirty="0"/>
              <a:t> </a:t>
            </a:r>
            <a:r>
              <a:rPr sz="4000" dirty="0"/>
              <a:t>Simulation</a:t>
            </a:r>
            <a:r>
              <a:rPr sz="4000" spc="-140" dirty="0"/>
              <a:t> </a:t>
            </a:r>
            <a:r>
              <a:rPr sz="4000" spc="-10" dirty="0"/>
              <a:t>Overview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2000" y="2057400"/>
            <a:ext cx="5457190" cy="2531110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99695" indent="-95250">
              <a:lnSpc>
                <a:spcPct val="110000"/>
              </a:lnSpc>
              <a:spcBef>
                <a:spcPts val="130"/>
              </a:spcBef>
              <a:buSzPct val="95000"/>
              <a:buChar char="•"/>
              <a:tabLst>
                <a:tab pos="9969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Uses</a:t>
            </a:r>
            <a:r>
              <a:rPr sz="2400" spc="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random</a:t>
            </a:r>
            <a:r>
              <a:rPr sz="2400" spc="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sampling</a:t>
            </a:r>
            <a:r>
              <a:rPr sz="2400" spc="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400" spc="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model</a:t>
            </a:r>
            <a:r>
              <a:rPr sz="2400" spc="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uncertainty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9695" indent="-95250">
              <a:lnSpc>
                <a:spcPct val="110000"/>
              </a:lnSpc>
              <a:spcBef>
                <a:spcPts val="35"/>
              </a:spcBef>
              <a:buSzPct val="95000"/>
              <a:buChar char="•"/>
              <a:tabLst>
                <a:tab pos="9969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Simulates</a:t>
            </a:r>
            <a:r>
              <a:rPr sz="2400" spc="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thousands/millions</a:t>
            </a:r>
            <a:r>
              <a:rPr sz="2400" spc="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2400" spc="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portfolio</a:t>
            </a:r>
            <a:r>
              <a:rPr sz="2400" spc="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returns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9695" indent="-95250">
              <a:lnSpc>
                <a:spcPct val="110000"/>
              </a:lnSpc>
              <a:spcBef>
                <a:spcPts val="35"/>
              </a:spcBef>
              <a:buSzPct val="95000"/>
              <a:buChar char="•"/>
              <a:tabLst>
                <a:tab pos="9969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Generates</a:t>
            </a:r>
            <a:r>
              <a:rPr sz="2400" spc="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probability</a:t>
            </a:r>
            <a:r>
              <a:rPr sz="2400" spc="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distribution</a:t>
            </a:r>
            <a:r>
              <a:rPr sz="2400" spc="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2400" spc="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losses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9695" indent="-95250">
              <a:lnSpc>
                <a:spcPct val="110000"/>
              </a:lnSpc>
              <a:spcBef>
                <a:spcPts val="35"/>
              </a:spcBef>
              <a:buSzPct val="95000"/>
              <a:buChar char="•"/>
              <a:tabLst>
                <a:tab pos="9969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Used</a:t>
            </a:r>
            <a:r>
              <a:rPr sz="2400" spc="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400" spc="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compute: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9695" indent="-95250">
              <a:lnSpc>
                <a:spcPct val="110000"/>
              </a:lnSpc>
              <a:spcBef>
                <a:spcPts val="40"/>
              </a:spcBef>
              <a:buSzPct val="95000"/>
              <a:buChar char="•"/>
              <a:tabLst>
                <a:tab pos="9969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Value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at Risk</a:t>
            </a:r>
            <a:r>
              <a:rPr sz="2400" spc="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20" dirty="0">
                <a:latin typeface="Times New Roman" panose="02020603050405020304" charset="0"/>
                <a:cs typeface="Times New Roman" panose="02020603050405020304" charset="0"/>
              </a:rPr>
              <a:t>(VaR)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9695" indent="-95250">
              <a:lnSpc>
                <a:spcPct val="110000"/>
              </a:lnSpc>
              <a:spcBef>
                <a:spcPts val="35"/>
              </a:spcBef>
              <a:buSzPct val="95000"/>
              <a:buChar char="•"/>
              <a:tabLst>
                <a:tab pos="9969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Expected</a:t>
            </a:r>
            <a:r>
              <a:rPr sz="2400" spc="10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20" dirty="0">
                <a:latin typeface="Times New Roman" panose="02020603050405020304" charset="0"/>
                <a:cs typeface="Times New Roman" panose="02020603050405020304" charset="0"/>
              </a:rPr>
              <a:t>loss</a:t>
            </a:r>
            <a:endParaRPr sz="2400" spc="-2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35" y="1371529"/>
            <a:ext cx="825563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000" spc="-10" dirty="0"/>
              <a:t>Skills and Tools Used</a:t>
            </a:r>
            <a:endParaRPr lang="en-US" sz="40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3564" y="2362055"/>
            <a:ext cx="8360409" cy="300863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algn="l">
              <a:lnSpc>
                <a:spcPts val="4975"/>
              </a:lnSpc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Programming: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671195" lvl="1" indent="-335915" algn="l">
              <a:lnSpc>
                <a:spcPts val="4975"/>
              </a:lnSpc>
              <a:buFont typeface="Arial" panose="020B0604020202020204"/>
              <a:buChar char="•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C/C++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algn="l">
              <a:lnSpc>
                <a:spcPts val="4975"/>
              </a:lnSpc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Parallel Programming: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671195" lvl="1" indent="-335915" algn="l">
              <a:lnSpc>
                <a:spcPts val="4975"/>
              </a:lnSpc>
              <a:buFont typeface="Arial" panose="020B0604020202020204"/>
              <a:buChar char="•"/>
            </a:pPr>
            <a:r>
              <a:rPr lang="en-US" sz="2000">
                <a:solidFill>
                  <a:srgbClr val="331B0D"/>
                </a:solidFill>
                <a:latin typeface="Times New Roman" panose="02020603050405020304" charset="0"/>
                <a:ea typeface="Open Sauce" panose="00000500000000000000"/>
                <a:cs typeface="Times New Roman" panose="02020603050405020304" charset="0"/>
                <a:sym typeface="Open Sauce" panose="00000500000000000000"/>
              </a:rPr>
              <a:t>OpenMP, MPI</a:t>
            </a:r>
            <a:endParaRPr lang="en-US" sz="2000">
              <a:solidFill>
                <a:srgbClr val="331B0D"/>
              </a:solidFill>
              <a:latin typeface="Times New Roman" panose="02020603050405020304" charset="0"/>
              <a:ea typeface="Open Sauce" panose="00000500000000000000"/>
              <a:cs typeface="Times New Roman" panose="02020603050405020304" charset="0"/>
              <a:sym typeface="Open Sauce" panose="00000500000000000000"/>
            </a:endParaRPr>
          </a:p>
          <a:p>
            <a:pPr marL="12700" indent="0">
              <a:lnSpc>
                <a:spcPct val="100000"/>
              </a:lnSpc>
              <a:spcBef>
                <a:spcPts val="585"/>
              </a:spcBef>
              <a:buNone/>
              <a:tabLst>
                <a:tab pos="201295" algn="l"/>
              </a:tabLst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35" y="914329"/>
            <a:ext cx="825563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Sequential</a:t>
            </a:r>
            <a:r>
              <a:rPr sz="4000" spc="-140" dirty="0"/>
              <a:t> </a:t>
            </a:r>
            <a:r>
              <a:rPr sz="4000" spc="-10" dirty="0"/>
              <a:t>Algorithm</a:t>
            </a:r>
            <a:endParaRPr sz="40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2057400"/>
            <a:ext cx="5084445" cy="2623185"/>
          </a:xfrm>
          <a:prstGeom prst="rect">
            <a:avLst/>
          </a:prstGeom>
        </p:spPr>
        <p:txBody>
          <a:bodyPr vert="horz" wrap="square" lIns="0" tIns="14604" rIns="0" bIns="0" rtlCol="0">
            <a:noAutofit/>
          </a:bodyPr>
          <a:lstStyle/>
          <a:p>
            <a:pPr marL="114935" indent="-111125">
              <a:lnSpc>
                <a:spcPct val="140000"/>
              </a:lnSpc>
              <a:spcBef>
                <a:spcPts val="115"/>
              </a:spcBef>
              <a:buSzPct val="96000"/>
              <a:buChar char="•"/>
              <a:tabLst>
                <a:tab pos="114935" algn="l"/>
              </a:tabLst>
            </a:pP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Generate</a:t>
            </a:r>
            <a:r>
              <a:rPr sz="2300" spc="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random</a:t>
            </a:r>
            <a:r>
              <a:rPr sz="2300" spc="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spc="-10" dirty="0">
                <a:latin typeface="Times New Roman" panose="02020603050405020304" charset="0"/>
                <a:cs typeface="Times New Roman" panose="02020603050405020304" charset="0"/>
              </a:rPr>
              <a:t>numbers</a:t>
            </a:r>
            <a:endParaRPr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40000"/>
              </a:lnSpc>
              <a:spcBef>
                <a:spcPts val="10"/>
              </a:spcBef>
              <a:buSzPct val="96000"/>
              <a:buChar char="•"/>
              <a:tabLst>
                <a:tab pos="114935" algn="l"/>
              </a:tabLst>
            </a:pP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Compute</a:t>
            </a:r>
            <a:r>
              <a:rPr sz="2300" spc="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asset</a:t>
            </a:r>
            <a:r>
              <a:rPr sz="2300" spc="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spc="-10" dirty="0">
                <a:latin typeface="Times New Roman" panose="02020603050405020304" charset="0"/>
                <a:cs typeface="Times New Roman" panose="02020603050405020304" charset="0"/>
              </a:rPr>
              <a:t>returns</a:t>
            </a:r>
            <a:endParaRPr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40000"/>
              </a:lnSpc>
              <a:spcBef>
                <a:spcPts val="15"/>
              </a:spcBef>
              <a:buSzPct val="96000"/>
              <a:buChar char="•"/>
              <a:tabLst>
                <a:tab pos="114935" algn="l"/>
              </a:tabLst>
            </a:pP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Calculate</a:t>
            </a:r>
            <a:r>
              <a:rPr sz="2300" spc="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portfolio</a:t>
            </a:r>
            <a:r>
              <a:rPr sz="2300" spc="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spc="-20" dirty="0">
                <a:latin typeface="Times New Roman" panose="02020603050405020304" charset="0"/>
                <a:cs typeface="Times New Roman" panose="02020603050405020304" charset="0"/>
              </a:rPr>
              <a:t>value</a:t>
            </a:r>
            <a:endParaRPr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40000"/>
              </a:lnSpc>
              <a:spcBef>
                <a:spcPts val="10"/>
              </a:spcBef>
              <a:buSzPct val="96000"/>
              <a:buChar char="•"/>
              <a:tabLst>
                <a:tab pos="114935" algn="l"/>
              </a:tabLst>
            </a:pP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Store</a:t>
            </a:r>
            <a:r>
              <a:rPr sz="2300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simulation</a:t>
            </a:r>
            <a:r>
              <a:rPr sz="2300" spc="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spc="-10" dirty="0">
                <a:latin typeface="Times New Roman" panose="02020603050405020304" charset="0"/>
                <a:cs typeface="Times New Roman" panose="02020603050405020304" charset="0"/>
              </a:rPr>
              <a:t>result</a:t>
            </a:r>
            <a:endParaRPr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40000"/>
              </a:lnSpc>
              <a:spcBef>
                <a:spcPts val="15"/>
              </a:spcBef>
              <a:buSzPct val="96000"/>
              <a:buChar char="•"/>
              <a:tabLst>
                <a:tab pos="114935" algn="l"/>
              </a:tabLst>
            </a:pP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Repeat</a:t>
            </a:r>
            <a:r>
              <a:rPr sz="2300" spc="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300" spc="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sz="2300" spc="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spc="-10" dirty="0">
                <a:latin typeface="Times New Roman" panose="02020603050405020304" charset="0"/>
                <a:cs typeface="Times New Roman" panose="02020603050405020304" charset="0"/>
              </a:rPr>
              <a:t>simulations</a:t>
            </a:r>
            <a:endParaRPr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40000"/>
              </a:lnSpc>
              <a:spcBef>
                <a:spcPts val="10"/>
              </a:spcBef>
              <a:buSzPct val="96000"/>
              <a:buChar char="•"/>
              <a:tabLst>
                <a:tab pos="114935" algn="l"/>
              </a:tabLst>
            </a:pP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Analyze</a:t>
            </a:r>
            <a:r>
              <a:rPr sz="2300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output</a:t>
            </a:r>
            <a:r>
              <a:rPr sz="2300" spc="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spc="-10" dirty="0">
                <a:latin typeface="Times New Roman" panose="02020603050405020304" charset="0"/>
                <a:cs typeface="Times New Roman" panose="02020603050405020304" charset="0"/>
              </a:rPr>
              <a:t>distribution</a:t>
            </a:r>
            <a:endParaRPr sz="23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35" y="1066729"/>
            <a:ext cx="825563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Why</a:t>
            </a:r>
            <a:r>
              <a:rPr sz="4000" spc="-170" dirty="0"/>
              <a:t> </a:t>
            </a:r>
            <a:r>
              <a:rPr sz="4000" spc="-20" dirty="0"/>
              <a:t>Parallel</a:t>
            </a:r>
            <a:r>
              <a:rPr sz="4000" spc="-150" dirty="0"/>
              <a:t> </a:t>
            </a:r>
            <a:r>
              <a:rPr sz="4000" spc="-10" dirty="0"/>
              <a:t>Computing?</a:t>
            </a:r>
            <a:endParaRPr sz="40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09650" y="2514652"/>
            <a:ext cx="8034020" cy="324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8905" indent="-125095">
              <a:lnSpc>
                <a:spcPct val="125000"/>
              </a:lnSpc>
              <a:spcBef>
                <a:spcPts val="90"/>
              </a:spcBef>
              <a:buSzPct val="96000"/>
              <a:buChar char="•"/>
              <a:tabLst>
                <a:tab pos="128905" algn="l"/>
              </a:tabLst>
            </a:pP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Independent</a:t>
            </a:r>
            <a:r>
              <a:rPr sz="28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simulations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b="1" spc="-10" dirty="0">
                <a:latin typeface="Times New Roman" panose="02020603050405020304" charset="0"/>
                <a:cs typeface="Times New Roman" panose="02020603050405020304" charset="0"/>
              </a:rPr>
              <a:t>embarrassingly</a:t>
            </a:r>
            <a:r>
              <a:rPr sz="2800" b="1" spc="-1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b="1" spc="-10" dirty="0">
                <a:latin typeface="Times New Roman" panose="02020603050405020304" charset="0"/>
                <a:cs typeface="Times New Roman" panose="02020603050405020304" charset="0"/>
              </a:rPr>
              <a:t>parallel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128905" indent="-125095">
              <a:lnSpc>
                <a:spcPct val="125000"/>
              </a:lnSpc>
              <a:buSzPct val="96000"/>
              <a:buChar char="•"/>
              <a:tabLst>
                <a:tab pos="12890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Each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iteration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can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run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independently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128905" indent="-125095">
              <a:lnSpc>
                <a:spcPct val="125000"/>
              </a:lnSpc>
              <a:buSzPct val="96000"/>
              <a:buChar char="•"/>
              <a:tabLst>
                <a:tab pos="12890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Ideal</a:t>
            </a:r>
            <a:r>
              <a:rPr sz="28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20" dirty="0">
                <a:latin typeface="Times New Roman" panose="02020603050405020304" charset="0"/>
                <a:cs typeface="Times New Roman" panose="02020603050405020304" charset="0"/>
              </a:rPr>
              <a:t>for: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128905" indent="-125095">
              <a:lnSpc>
                <a:spcPct val="125000"/>
              </a:lnSpc>
              <a:buSzPct val="96000"/>
              <a:buChar char="•"/>
              <a:tabLst>
                <a:tab pos="128905" algn="l"/>
              </a:tabLst>
            </a:pPr>
            <a:r>
              <a:rPr sz="2800" spc="-25" dirty="0">
                <a:latin typeface="Times New Roman" panose="02020603050405020304" charset="0"/>
                <a:cs typeface="Times New Roman" panose="02020603050405020304" charset="0"/>
              </a:rPr>
              <a:t>Multi-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core</a:t>
            </a:r>
            <a:r>
              <a:rPr sz="2800" spc="-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20" dirty="0">
                <a:latin typeface="Times New Roman" panose="02020603050405020304" charset="0"/>
                <a:cs typeface="Times New Roman" panose="02020603050405020304" charset="0"/>
              </a:rPr>
              <a:t>CPUs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128905" indent="-125095">
              <a:lnSpc>
                <a:spcPct val="125000"/>
              </a:lnSpc>
              <a:buSzPct val="96000"/>
              <a:buChar char="•"/>
              <a:tabLst>
                <a:tab pos="128905" algn="l"/>
              </a:tabLst>
            </a:pP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Clusters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128905" indent="-125095">
              <a:lnSpc>
                <a:spcPct val="125000"/>
              </a:lnSpc>
              <a:buSzPct val="96000"/>
              <a:buChar char="•"/>
              <a:tabLst>
                <a:tab pos="128905" algn="l"/>
              </a:tabLst>
            </a:pPr>
            <a:r>
              <a:rPr sz="2800" spc="-20" dirty="0">
                <a:latin typeface="Times New Roman" panose="02020603050405020304" charset="0"/>
                <a:cs typeface="Times New Roman" panose="02020603050405020304" charset="0"/>
              </a:rPr>
              <a:t>GPUs</a:t>
            </a:r>
            <a:endParaRPr sz="2800" spc="-2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35" y="990529"/>
            <a:ext cx="825563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Times New Roman" panose="02020603050405020304" charset="0"/>
                <a:cs typeface="Times New Roman" panose="02020603050405020304" charset="0"/>
              </a:rPr>
              <a:t>OpenMP</a:t>
            </a:r>
            <a:r>
              <a:rPr sz="4000" spc="-1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4000" spc="-10" dirty="0">
                <a:latin typeface="Times New Roman" panose="02020603050405020304" charset="0"/>
                <a:cs typeface="Times New Roman" panose="02020603050405020304" charset="0"/>
              </a:rPr>
              <a:t>Implementation</a:t>
            </a:r>
            <a:endParaRPr sz="40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86" y="2057222"/>
            <a:ext cx="5175885" cy="4683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9695" indent="-95250">
              <a:lnSpc>
                <a:spcPct val="100000"/>
              </a:lnSpc>
              <a:spcBef>
                <a:spcPts val="130"/>
              </a:spcBef>
              <a:buSzPct val="95000"/>
              <a:buChar char="•"/>
              <a:tabLst>
                <a:tab pos="9969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Shared-memory</a:t>
            </a:r>
            <a:r>
              <a:rPr sz="2400" spc="1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parallelism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9695" indent="-95250">
              <a:lnSpc>
                <a:spcPct val="100000"/>
              </a:lnSpc>
              <a:spcBef>
                <a:spcPts val="35"/>
              </a:spcBef>
              <a:buSzPct val="95000"/>
              <a:buChar char="•"/>
              <a:tabLst>
                <a:tab pos="9969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Uses</a:t>
            </a:r>
            <a:r>
              <a:rPr sz="2400" spc="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CPU</a:t>
            </a:r>
            <a:r>
              <a:rPr sz="2400" spc="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multi-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threading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9695" indent="-95250">
              <a:lnSpc>
                <a:spcPct val="100000"/>
              </a:lnSpc>
              <a:spcBef>
                <a:spcPts val="35"/>
              </a:spcBef>
              <a:buSzPct val="95000"/>
              <a:buChar char="•"/>
              <a:tabLst>
                <a:tab pos="9969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Parallelizes</a:t>
            </a:r>
            <a:r>
              <a:rPr sz="2400" spc="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simulation</a:t>
            </a:r>
            <a:r>
              <a:rPr sz="2400" spc="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loop</a:t>
            </a:r>
            <a:r>
              <a:rPr sz="2400" spc="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using</a:t>
            </a:r>
            <a:r>
              <a:rPr sz="2400" spc="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latin typeface="Times New Roman" panose="02020603050405020304" charset="0"/>
                <a:cs typeface="Times New Roman" panose="02020603050405020304" charset="0"/>
              </a:rPr>
              <a:t>#pragma</a:t>
            </a:r>
            <a:r>
              <a:rPr sz="1200" spc="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latin typeface="Times New Roman" panose="02020603050405020304" charset="0"/>
                <a:cs typeface="Times New Roman" panose="02020603050405020304" charset="0"/>
              </a:rPr>
              <a:t>omp</a:t>
            </a:r>
            <a:r>
              <a:rPr sz="1200" spc="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dirty="0">
                <a:latin typeface="Times New Roman" panose="02020603050405020304" charset="0"/>
                <a:cs typeface="Times New Roman" panose="02020603050405020304" charset="0"/>
              </a:rPr>
              <a:t>parallel</a:t>
            </a:r>
            <a:r>
              <a:rPr sz="1200" spc="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25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marL="99695" indent="-95250">
              <a:lnSpc>
                <a:spcPct val="100000"/>
              </a:lnSpc>
              <a:spcBef>
                <a:spcPts val="35"/>
              </a:spcBef>
              <a:buSzPct val="95000"/>
              <a:buChar char="•"/>
              <a:tabLst>
                <a:tab pos="9969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Best</a:t>
            </a:r>
            <a:r>
              <a:rPr sz="2400" spc="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suited</a:t>
            </a:r>
            <a:r>
              <a:rPr sz="2400" spc="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20" dirty="0">
                <a:latin typeface="Times New Roman" panose="02020603050405020304" charset="0"/>
                <a:cs typeface="Times New Roman" panose="02020603050405020304" charset="0"/>
              </a:rPr>
              <a:t>for: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77520" lvl="1" indent="-95250">
              <a:lnSpc>
                <a:spcPct val="100000"/>
              </a:lnSpc>
              <a:spcBef>
                <a:spcPts val="40"/>
              </a:spcBef>
              <a:buSzPct val="95000"/>
              <a:buChar char="•"/>
              <a:tabLst>
                <a:tab pos="477520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Single</a:t>
            </a:r>
            <a:r>
              <a:rPr sz="2400" spc="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machine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77520" lvl="1" indent="-95250">
              <a:lnSpc>
                <a:spcPct val="100000"/>
              </a:lnSpc>
              <a:spcBef>
                <a:spcPts val="35"/>
              </a:spcBef>
              <a:buSzPct val="95000"/>
              <a:buChar char="•"/>
              <a:tabLst>
                <a:tab pos="477520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Multi-core</a:t>
            </a:r>
            <a:r>
              <a:rPr sz="2400" spc="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processors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400" b="1" spc="-10" dirty="0">
                <a:latin typeface="Times New Roman" panose="02020603050405020304" charset="0"/>
                <a:cs typeface="Times New Roman" panose="02020603050405020304" charset="0"/>
              </a:rPr>
              <a:t>Advantages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9695" indent="-95250">
              <a:lnSpc>
                <a:spcPct val="100000"/>
              </a:lnSpc>
              <a:spcBef>
                <a:spcPts val="35"/>
              </a:spcBef>
              <a:buSzPct val="95000"/>
              <a:buChar char="•"/>
              <a:tabLst>
                <a:tab pos="9969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Easy</a:t>
            </a:r>
            <a:r>
              <a:rPr sz="2400" spc="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400" spc="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implement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9695" indent="-95250">
              <a:lnSpc>
                <a:spcPct val="100000"/>
              </a:lnSpc>
              <a:spcBef>
                <a:spcPts val="35"/>
              </a:spcBef>
              <a:buSzPct val="95000"/>
              <a:buChar char="•"/>
              <a:tabLst>
                <a:tab pos="9969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Low</a:t>
            </a:r>
            <a:r>
              <a:rPr sz="2400" spc="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overhead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400" b="1" spc="-10" dirty="0">
                <a:latin typeface="Times New Roman" panose="02020603050405020304" charset="0"/>
                <a:cs typeface="Times New Roman" panose="02020603050405020304" charset="0"/>
              </a:rPr>
              <a:t>Limitations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9695" indent="-95250">
              <a:lnSpc>
                <a:spcPct val="100000"/>
              </a:lnSpc>
              <a:spcBef>
                <a:spcPts val="35"/>
              </a:spcBef>
              <a:buSzPct val="95000"/>
              <a:buChar char="•"/>
              <a:tabLst>
                <a:tab pos="9969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Limited</a:t>
            </a:r>
            <a:r>
              <a:rPr sz="2400" spc="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scalability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99695" indent="-95250">
              <a:lnSpc>
                <a:spcPct val="100000"/>
              </a:lnSpc>
              <a:spcBef>
                <a:spcPts val="35"/>
              </a:spcBef>
              <a:buSzPct val="95000"/>
              <a:buChar char="•"/>
              <a:tabLst>
                <a:tab pos="9969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Shared</a:t>
            </a:r>
            <a:r>
              <a:rPr sz="2400" spc="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memory</a:t>
            </a:r>
            <a:r>
              <a:rPr sz="2400" spc="10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constraints</a:t>
            </a:r>
            <a:endParaRPr sz="24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35" y="990529"/>
            <a:ext cx="825563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Times New Roman" panose="02020603050405020304" charset="0"/>
                <a:cs typeface="Times New Roman" panose="02020603050405020304" charset="0"/>
              </a:rPr>
              <a:t>MPI</a:t>
            </a:r>
            <a:r>
              <a:rPr sz="4000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4000" spc="-10" dirty="0">
                <a:latin typeface="Times New Roman" panose="02020603050405020304" charset="0"/>
                <a:cs typeface="Times New Roman" panose="02020603050405020304" charset="0"/>
              </a:rPr>
              <a:t>Implementation</a:t>
            </a:r>
            <a:endParaRPr sz="40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1981200"/>
            <a:ext cx="5737860" cy="40862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4935" indent="-111125">
              <a:lnSpc>
                <a:spcPct val="110000"/>
              </a:lnSpc>
              <a:spcBef>
                <a:spcPts val="115"/>
              </a:spcBef>
              <a:buSzPct val="96000"/>
              <a:buChar char="•"/>
              <a:tabLst>
                <a:tab pos="11493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Distributed-memory</a:t>
            </a:r>
            <a:r>
              <a:rPr sz="2400" spc="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parallelism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10000"/>
              </a:lnSpc>
              <a:spcBef>
                <a:spcPts val="10"/>
              </a:spcBef>
              <a:buSzPct val="96000"/>
              <a:buChar char="•"/>
              <a:tabLst>
                <a:tab pos="11493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Each</a:t>
            </a:r>
            <a:r>
              <a:rPr sz="2400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process</a:t>
            </a:r>
            <a:r>
              <a:rPr sz="2400" spc="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runs</a:t>
            </a:r>
            <a:r>
              <a:rPr sz="2400" spc="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on</a:t>
            </a:r>
            <a:r>
              <a:rPr sz="2400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2400" spc="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different</a:t>
            </a:r>
            <a:r>
              <a:rPr sz="2400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20" dirty="0">
                <a:latin typeface="Times New Roman" panose="02020603050405020304" charset="0"/>
                <a:cs typeface="Times New Roman" panose="02020603050405020304" charset="0"/>
              </a:rPr>
              <a:t>node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10000"/>
              </a:lnSpc>
              <a:spcBef>
                <a:spcPts val="15"/>
              </a:spcBef>
              <a:buSzPct val="96000"/>
              <a:buChar char="•"/>
              <a:tabLst>
                <a:tab pos="11493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Simulations</a:t>
            </a:r>
            <a:r>
              <a:rPr sz="2400" spc="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divided</a:t>
            </a:r>
            <a:r>
              <a:rPr sz="2400" spc="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among</a:t>
            </a:r>
            <a:r>
              <a:rPr sz="2400" spc="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processes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10000"/>
              </a:lnSpc>
              <a:spcBef>
                <a:spcPts val="10"/>
              </a:spcBef>
              <a:buSzPct val="96000"/>
              <a:buChar char="•"/>
              <a:tabLst>
                <a:tab pos="11493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Results</a:t>
            </a:r>
            <a:r>
              <a:rPr sz="2400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combined</a:t>
            </a:r>
            <a:r>
              <a:rPr sz="2400" spc="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using</a:t>
            </a:r>
            <a:r>
              <a:rPr sz="2400" spc="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spc="-10" dirty="0">
                <a:latin typeface="Times New Roman" panose="02020603050405020304" charset="0"/>
                <a:cs typeface="Times New Roman" panose="02020603050405020304" charset="0"/>
              </a:rPr>
              <a:t>MPI_Reduce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10000"/>
              </a:lnSpc>
              <a:spcBef>
                <a:spcPts val="15"/>
              </a:spcBef>
            </a:pPr>
            <a:r>
              <a:rPr sz="2400" b="1" spc="-10" dirty="0">
                <a:latin typeface="Times New Roman" panose="02020603050405020304" charset="0"/>
                <a:cs typeface="Times New Roman" panose="02020603050405020304" charset="0"/>
              </a:rPr>
              <a:t>Advantages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10000"/>
              </a:lnSpc>
              <a:spcBef>
                <a:spcPts val="10"/>
              </a:spcBef>
              <a:buSzPct val="96000"/>
              <a:buChar char="•"/>
              <a:tabLst>
                <a:tab pos="11493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High</a:t>
            </a:r>
            <a:r>
              <a:rPr sz="2400" spc="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scalability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10000"/>
              </a:lnSpc>
              <a:spcBef>
                <a:spcPts val="10"/>
              </a:spcBef>
              <a:buSzPct val="96000"/>
              <a:buChar char="•"/>
              <a:tabLst>
                <a:tab pos="11493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Suitable</a:t>
            </a:r>
            <a:r>
              <a:rPr sz="2400" spc="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400" spc="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clusters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>
              <a:lnSpc>
                <a:spcPct val="110000"/>
              </a:lnSpc>
              <a:spcBef>
                <a:spcPts val="15"/>
              </a:spcBef>
            </a:pPr>
            <a:r>
              <a:rPr sz="2400" b="1" spc="-10" dirty="0">
                <a:latin typeface="Times New Roman" panose="02020603050405020304" charset="0"/>
                <a:cs typeface="Times New Roman" panose="02020603050405020304" charset="0"/>
              </a:rPr>
              <a:t>Limitations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10000"/>
              </a:lnSpc>
              <a:spcBef>
                <a:spcPts val="10"/>
              </a:spcBef>
              <a:buSzPct val="96000"/>
              <a:buChar char="•"/>
              <a:tabLst>
                <a:tab pos="11493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Communication</a:t>
            </a:r>
            <a:r>
              <a:rPr sz="2400" spc="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overhead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10000"/>
              </a:lnSpc>
              <a:spcBef>
                <a:spcPts val="10"/>
              </a:spcBef>
              <a:buSzPct val="96000"/>
              <a:buChar char="•"/>
              <a:tabLst>
                <a:tab pos="11493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More</a:t>
            </a:r>
            <a:r>
              <a:rPr sz="2400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complex</a:t>
            </a:r>
            <a:r>
              <a:rPr sz="2400" spc="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</a:rPr>
              <a:t>programming</a:t>
            </a:r>
            <a:endParaRPr sz="24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35" y="990529"/>
            <a:ext cx="825563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latin typeface="Times New Roman" panose="02020603050405020304" charset="0"/>
                <a:cs typeface="Times New Roman" panose="02020603050405020304" charset="0"/>
              </a:rPr>
              <a:t>Experimental</a:t>
            </a:r>
            <a:r>
              <a:rPr sz="4000" spc="-1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4000" spc="-10" dirty="0">
                <a:latin typeface="Times New Roman" panose="02020603050405020304" charset="0"/>
                <a:cs typeface="Times New Roman" panose="02020603050405020304" charset="0"/>
              </a:rPr>
              <a:t>Setup</a:t>
            </a:r>
            <a:endParaRPr sz="40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60405" y="2540033"/>
            <a:ext cx="4533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Trebuchet MS" panose="020B0603020202020204"/>
                <a:cs typeface="Trebuchet MS" panose="020B0603020202020204"/>
              </a:rPr>
              <a:t>Value</a:t>
            </a:r>
            <a:endParaRPr sz="1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9140" y="2540033"/>
            <a:ext cx="8255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35" dirty="0">
                <a:latin typeface="Trebuchet MS" panose="020B0603020202020204"/>
                <a:cs typeface="Trebuchet MS" panose="020B0603020202020204"/>
              </a:rPr>
              <a:t>Parameter</a:t>
            </a:r>
            <a:endParaRPr sz="1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60405" y="2981973"/>
            <a:ext cx="5486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rebuchet MS" panose="020B0603020202020204"/>
                <a:cs typeface="Trebuchet MS" panose="020B0603020202020204"/>
              </a:rPr>
              <a:t>$100.0</a:t>
            </a:r>
            <a:endParaRPr sz="1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9140" y="2981973"/>
            <a:ext cx="15976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5" dirty="0">
                <a:latin typeface="Trebuchet MS" panose="020B0603020202020204"/>
                <a:cs typeface="Trebuchet MS" panose="020B0603020202020204"/>
              </a:rPr>
              <a:t>Initial</a:t>
            </a:r>
            <a:r>
              <a:rPr sz="1400" spc="-8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00" spc="-50" dirty="0">
                <a:latin typeface="Trebuchet MS" panose="020B0603020202020204"/>
                <a:cs typeface="Trebuchet MS" panose="020B0603020202020204"/>
              </a:rPr>
              <a:t>Portfolio</a:t>
            </a:r>
            <a:r>
              <a:rPr sz="1400" spc="-10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00" spc="-20" dirty="0">
                <a:latin typeface="Trebuchet MS" panose="020B0603020202020204"/>
                <a:cs typeface="Trebuchet MS" panose="020B0603020202020204"/>
              </a:rPr>
              <a:t>Value</a:t>
            </a:r>
            <a:endParaRPr sz="1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0405" y="3425481"/>
            <a:ext cx="5067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rebuchet MS" panose="020B0603020202020204"/>
                <a:cs typeface="Trebuchet MS" panose="020B0603020202020204"/>
              </a:rPr>
              <a:t>0.05%</a:t>
            </a:r>
            <a:endParaRPr sz="1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9140" y="3425481"/>
            <a:ext cx="15347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Trebuchet MS" panose="020B0603020202020204"/>
                <a:cs typeface="Trebuchet MS" panose="020B0603020202020204"/>
              </a:rPr>
              <a:t>Expected</a:t>
            </a:r>
            <a:r>
              <a:rPr sz="1400" spc="-10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00" spc="-35" dirty="0">
                <a:latin typeface="Trebuchet MS" panose="020B0603020202020204"/>
                <a:cs typeface="Trebuchet MS" panose="020B0603020202020204"/>
              </a:rPr>
              <a:t>Return</a:t>
            </a:r>
            <a:r>
              <a:rPr sz="1400" spc="-9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00" spc="-30" dirty="0">
                <a:latin typeface="Trebuchet MS" panose="020B0603020202020204"/>
                <a:cs typeface="Trebuchet MS" panose="020B0603020202020204"/>
              </a:rPr>
              <a:t>(μ)</a:t>
            </a:r>
            <a:endParaRPr sz="1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0405" y="3867420"/>
            <a:ext cx="4121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Trebuchet MS" panose="020B0603020202020204"/>
                <a:cs typeface="Trebuchet MS" panose="020B0603020202020204"/>
              </a:rPr>
              <a:t>0.2%</a:t>
            </a:r>
            <a:endParaRPr sz="1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9140" y="3867420"/>
            <a:ext cx="92836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65" dirty="0">
                <a:latin typeface="Trebuchet MS" panose="020B0603020202020204"/>
                <a:cs typeface="Trebuchet MS" panose="020B0603020202020204"/>
              </a:rPr>
              <a:t>Volatility</a:t>
            </a:r>
            <a:r>
              <a:rPr sz="1400" spc="-8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00" spc="-35" dirty="0">
                <a:latin typeface="Trebuchet MS" panose="020B0603020202020204"/>
                <a:cs typeface="Trebuchet MS" panose="020B0603020202020204"/>
              </a:rPr>
              <a:t>(σ)</a:t>
            </a:r>
            <a:endParaRPr sz="1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60405" y="4309360"/>
            <a:ext cx="6934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Trebuchet MS" panose="020B0603020202020204"/>
                <a:cs typeface="Trebuchet MS" panose="020B0603020202020204"/>
              </a:rPr>
              <a:t>2,00,000</a:t>
            </a:r>
            <a:endParaRPr sz="1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9140" y="4309360"/>
            <a:ext cx="17970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rebuchet MS" panose="020B0603020202020204"/>
                <a:cs typeface="Trebuchet MS" panose="020B0603020202020204"/>
              </a:rPr>
              <a:t>Number</a:t>
            </a:r>
            <a:r>
              <a:rPr sz="1400" spc="-1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00" spc="-35" dirty="0">
                <a:latin typeface="Trebuchet MS" panose="020B0603020202020204"/>
                <a:cs typeface="Trebuchet MS" panose="020B0603020202020204"/>
              </a:rPr>
              <a:t>of</a:t>
            </a:r>
            <a:r>
              <a:rPr sz="1400" spc="-114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00" spc="-10" dirty="0">
                <a:latin typeface="Trebuchet MS" panose="020B0603020202020204"/>
                <a:cs typeface="Trebuchet MS" panose="020B0603020202020204"/>
              </a:rPr>
              <a:t>Simulations</a:t>
            </a:r>
            <a:endParaRPr sz="1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60405" y="4751300"/>
            <a:ext cx="12795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65" dirty="0">
                <a:latin typeface="Trebuchet MS" panose="020B0603020202020204"/>
                <a:cs typeface="Trebuchet MS" panose="020B0603020202020204"/>
              </a:rPr>
              <a:t>CPU</a:t>
            </a:r>
            <a:r>
              <a:rPr sz="1400" spc="-114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00" spc="-270" dirty="0">
                <a:latin typeface="Trebuchet MS" panose="020B0603020202020204"/>
                <a:cs typeface="Trebuchet MS" panose="020B0603020202020204"/>
              </a:rPr>
              <a:t>/</a:t>
            </a:r>
            <a:r>
              <a:rPr sz="1400" spc="-1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00" dirty="0">
                <a:latin typeface="Trebuchet MS" panose="020B0603020202020204"/>
                <a:cs typeface="Trebuchet MS" panose="020B0603020202020204"/>
              </a:rPr>
              <a:t>MPI</a:t>
            </a:r>
            <a:r>
              <a:rPr sz="1400" spc="-114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00" spc="-270" dirty="0">
                <a:latin typeface="Trebuchet MS" panose="020B0603020202020204"/>
                <a:cs typeface="Trebuchet MS" panose="020B0603020202020204"/>
              </a:rPr>
              <a:t>/</a:t>
            </a:r>
            <a:r>
              <a:rPr sz="1400" spc="-1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00" spc="-25" dirty="0">
                <a:latin typeface="Trebuchet MS" panose="020B0603020202020204"/>
                <a:cs typeface="Trebuchet MS" panose="020B0603020202020204"/>
              </a:rPr>
              <a:t>GPU</a:t>
            </a:r>
            <a:endParaRPr sz="1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9140" y="4751300"/>
            <a:ext cx="7753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rebuchet MS" panose="020B0603020202020204"/>
                <a:cs typeface="Trebuchet MS" panose="020B0603020202020204"/>
              </a:rPr>
              <a:t>Platforms</a:t>
            </a:r>
            <a:endParaRPr sz="14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24781" y="2424154"/>
            <a:ext cx="1753235" cy="2515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35"/>
              </a:spcBef>
            </a:pPr>
            <a:r>
              <a:rPr sz="1450" spc="-10" dirty="0">
                <a:latin typeface="Trebuchet MS" panose="020B0603020202020204"/>
                <a:cs typeface="Trebuchet MS" panose="020B0603020202020204"/>
              </a:rPr>
              <a:t>+-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----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-------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</a:t>
            </a:r>
            <a:r>
              <a:rPr sz="1450" spc="-50" dirty="0">
                <a:latin typeface="Trebuchet MS" panose="020B0603020202020204"/>
                <a:cs typeface="Trebuchet MS" panose="020B0603020202020204"/>
              </a:rPr>
              <a:t>+</a:t>
            </a:r>
            <a:endParaRPr sz="1450">
              <a:latin typeface="Trebuchet MS" panose="020B0603020202020204"/>
              <a:cs typeface="Trebuchet MS" panose="020B0603020202020204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sz="1450" spc="-30" dirty="0">
                <a:latin typeface="Trebuchet MS" panose="020B0603020202020204"/>
                <a:cs typeface="Trebuchet MS" panose="020B0603020202020204"/>
              </a:rPr>
              <a:t>|CPU</a:t>
            </a:r>
            <a:r>
              <a:rPr sz="1450" spc="-1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50" spc="-10" dirty="0">
                <a:latin typeface="Trebuchet MS" panose="020B0603020202020204"/>
                <a:cs typeface="Trebuchet MS" panose="020B0603020202020204"/>
              </a:rPr>
              <a:t>(OpenMP)|</a:t>
            </a:r>
            <a:endParaRPr sz="1450">
              <a:latin typeface="Trebuchet MS" panose="020B0603020202020204"/>
              <a:cs typeface="Trebuchet MS" panose="020B0603020202020204"/>
            </a:endParaRPr>
          </a:p>
          <a:p>
            <a:pPr marR="189230" algn="ctr">
              <a:lnSpc>
                <a:spcPct val="100000"/>
              </a:lnSpc>
              <a:spcBef>
                <a:spcPts val="35"/>
              </a:spcBef>
            </a:pPr>
            <a:r>
              <a:rPr sz="1450" spc="-10" dirty="0">
                <a:latin typeface="Trebuchet MS" panose="020B0603020202020204"/>
                <a:cs typeface="Trebuchet MS" panose="020B0603020202020204"/>
              </a:rPr>
              <a:t>+-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----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-------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</a:t>
            </a:r>
            <a:r>
              <a:rPr sz="1450" spc="-50" dirty="0">
                <a:latin typeface="Trebuchet MS" panose="020B0603020202020204"/>
                <a:cs typeface="Trebuchet MS" panose="020B0603020202020204"/>
              </a:rPr>
              <a:t>+</a:t>
            </a:r>
            <a:endParaRPr sz="1450">
              <a:latin typeface="Trebuchet MS" panose="020B0603020202020204"/>
              <a:cs typeface="Trebuchet MS" panose="020B0603020202020204"/>
            </a:endParaRPr>
          </a:p>
          <a:p>
            <a:pPr marR="147320" algn="ctr">
              <a:lnSpc>
                <a:spcPct val="100000"/>
              </a:lnSpc>
              <a:spcBef>
                <a:spcPts val="50"/>
              </a:spcBef>
            </a:pPr>
            <a:r>
              <a:rPr sz="1450" spc="-420" dirty="0">
                <a:latin typeface="Trebuchet MS" panose="020B0603020202020204"/>
                <a:cs typeface="Trebuchet MS" panose="020B0603020202020204"/>
              </a:rPr>
              <a:t>|</a:t>
            </a:r>
            <a:endParaRPr sz="145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50" spc="-10" dirty="0">
                <a:latin typeface="Trebuchet MS" panose="020B0603020202020204"/>
                <a:cs typeface="Trebuchet MS" panose="020B0603020202020204"/>
              </a:rPr>
              <a:t>+-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----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-------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-------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1450" spc="-50" dirty="0">
                <a:latin typeface="Trebuchet MS" panose="020B0603020202020204"/>
                <a:cs typeface="Trebuchet MS" panose="020B0603020202020204"/>
              </a:rPr>
              <a:t>+</a:t>
            </a:r>
            <a:endParaRPr sz="145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50" spc="-45" dirty="0">
                <a:latin typeface="Trebuchet MS" panose="020B0603020202020204"/>
                <a:cs typeface="Trebuchet MS" panose="020B0603020202020204"/>
              </a:rPr>
              <a:t>|Cluster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latin typeface="Trebuchet MS" panose="020B0603020202020204"/>
                <a:cs typeface="Trebuchet MS" panose="020B0603020202020204"/>
              </a:rPr>
              <a:t>(MPI</a:t>
            </a:r>
            <a:r>
              <a:rPr sz="1450" spc="-9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50" spc="-10" dirty="0">
                <a:latin typeface="Trebuchet MS" panose="020B0603020202020204"/>
                <a:cs typeface="Trebuchet MS" panose="020B0603020202020204"/>
              </a:rPr>
              <a:t>Nodes)|</a:t>
            </a:r>
            <a:endParaRPr sz="145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50" spc="-10" dirty="0">
                <a:latin typeface="Trebuchet MS" panose="020B0603020202020204"/>
                <a:cs typeface="Trebuchet MS" panose="020B0603020202020204"/>
              </a:rPr>
              <a:t>+-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----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-------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-------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1450" spc="-50" dirty="0">
                <a:latin typeface="Trebuchet MS" panose="020B0603020202020204"/>
                <a:cs typeface="Trebuchet MS" panose="020B0603020202020204"/>
              </a:rPr>
              <a:t>+</a:t>
            </a:r>
            <a:endParaRPr sz="1450">
              <a:latin typeface="Trebuchet MS" panose="020B0603020202020204"/>
              <a:cs typeface="Trebuchet MS" panose="020B0603020202020204"/>
            </a:endParaRPr>
          </a:p>
          <a:p>
            <a:pPr marR="71120" algn="ctr">
              <a:lnSpc>
                <a:spcPct val="100000"/>
              </a:lnSpc>
              <a:spcBef>
                <a:spcPts val="45"/>
              </a:spcBef>
            </a:pPr>
            <a:r>
              <a:rPr sz="1450" spc="-420" dirty="0">
                <a:latin typeface="Trebuchet MS" panose="020B0603020202020204"/>
                <a:cs typeface="Trebuchet MS" panose="020B0603020202020204"/>
              </a:rPr>
              <a:t>|</a:t>
            </a:r>
            <a:endParaRPr sz="1450">
              <a:latin typeface="Trebuchet MS" panose="020B0603020202020204"/>
              <a:cs typeface="Trebuchet MS" panose="020B0603020202020204"/>
            </a:endParaRPr>
          </a:p>
          <a:p>
            <a:pPr marR="113030" algn="ctr">
              <a:lnSpc>
                <a:spcPct val="100000"/>
              </a:lnSpc>
              <a:spcBef>
                <a:spcPts val="35"/>
              </a:spcBef>
            </a:pPr>
            <a:r>
              <a:rPr sz="1450" spc="-10" dirty="0">
                <a:latin typeface="Trebuchet MS" panose="020B0603020202020204"/>
                <a:cs typeface="Trebuchet MS" panose="020B0603020202020204"/>
              </a:rPr>
              <a:t>+-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----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-------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</a:t>
            </a:r>
            <a:r>
              <a:rPr sz="1450" spc="-50" dirty="0">
                <a:latin typeface="Trebuchet MS" panose="020B0603020202020204"/>
                <a:cs typeface="Trebuchet MS" panose="020B0603020202020204"/>
              </a:rPr>
              <a:t>+</a:t>
            </a:r>
            <a:endParaRPr sz="1450">
              <a:latin typeface="Trebuchet MS" panose="020B0603020202020204"/>
              <a:cs typeface="Trebuchet MS" panose="020B0603020202020204"/>
            </a:endParaRPr>
          </a:p>
          <a:p>
            <a:pPr marR="69215" algn="ctr">
              <a:lnSpc>
                <a:spcPct val="100000"/>
              </a:lnSpc>
              <a:spcBef>
                <a:spcPts val="50"/>
              </a:spcBef>
            </a:pPr>
            <a:r>
              <a:rPr sz="1450" spc="-50" dirty="0">
                <a:latin typeface="Trebuchet MS" panose="020B0603020202020204"/>
                <a:cs typeface="Trebuchet MS" panose="020B0603020202020204"/>
              </a:rPr>
              <a:t>|GPU</a:t>
            </a:r>
            <a:r>
              <a:rPr sz="1450" spc="-1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450" spc="-10" dirty="0">
                <a:latin typeface="Trebuchet MS" panose="020B0603020202020204"/>
                <a:cs typeface="Trebuchet MS" panose="020B0603020202020204"/>
              </a:rPr>
              <a:t>(CUDA)|</a:t>
            </a:r>
            <a:endParaRPr sz="1450">
              <a:latin typeface="Trebuchet MS" panose="020B0603020202020204"/>
              <a:cs typeface="Trebuchet MS" panose="020B0603020202020204"/>
            </a:endParaRPr>
          </a:p>
          <a:p>
            <a:pPr marR="113030" algn="ctr">
              <a:lnSpc>
                <a:spcPct val="100000"/>
              </a:lnSpc>
              <a:spcBef>
                <a:spcPts val="35"/>
              </a:spcBef>
            </a:pPr>
            <a:r>
              <a:rPr sz="1450" spc="-10" dirty="0">
                <a:latin typeface="Trebuchet MS" panose="020B0603020202020204"/>
                <a:cs typeface="Trebuchet MS" panose="020B0603020202020204"/>
              </a:rPr>
              <a:t>+-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----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-------</a:t>
            </a:r>
            <a:r>
              <a:rPr sz="1450" spc="-60" dirty="0">
                <a:latin typeface="Trebuchet MS" panose="020B0603020202020204"/>
                <a:cs typeface="Trebuchet MS" panose="020B0603020202020204"/>
              </a:rPr>
              <a:t>-</a:t>
            </a:r>
            <a:r>
              <a:rPr sz="1450" spc="-45" dirty="0">
                <a:latin typeface="Trebuchet MS" panose="020B0603020202020204"/>
                <a:cs typeface="Trebuchet MS" panose="020B0603020202020204"/>
              </a:rPr>
              <a:t>--</a:t>
            </a:r>
            <a:r>
              <a:rPr sz="1450" spc="-50" dirty="0">
                <a:latin typeface="Trebuchet MS" panose="020B0603020202020204"/>
                <a:cs typeface="Trebuchet MS" panose="020B0603020202020204"/>
              </a:rPr>
              <a:t>+</a:t>
            </a:r>
            <a:endParaRPr sz="145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35" y="838129"/>
            <a:ext cx="825563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Times New Roman" panose="02020603050405020304" charset="0"/>
                <a:cs typeface="Times New Roman" panose="02020603050405020304" charset="0"/>
              </a:rPr>
              <a:t>Results</a:t>
            </a:r>
            <a:r>
              <a:rPr sz="4000" spc="-1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4000" spc="-10" dirty="0">
                <a:latin typeface="Times New Roman" panose="02020603050405020304" charset="0"/>
                <a:cs typeface="Times New Roman" panose="02020603050405020304" charset="0"/>
              </a:rPr>
              <a:t>(Sample)</a:t>
            </a:r>
            <a:endParaRPr sz="40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34859" y="2379829"/>
          <a:ext cx="5124450" cy="1594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8435"/>
                <a:gridCol w="2392679"/>
                <a:gridCol w="1206500"/>
              </a:tblGrid>
              <a:tr h="285750">
                <a:tc>
                  <a:txBody>
                    <a:bodyPr/>
                    <a:lstStyle/>
                    <a:p>
                      <a:pPr marL="31750">
                        <a:lnSpc>
                          <a:spcPts val="1685"/>
                        </a:lnSpc>
                      </a:pPr>
                      <a:r>
                        <a:rPr sz="1450" spc="-10" dirty="0">
                          <a:latin typeface="Trebuchet MS" panose="020B0603020202020204"/>
                          <a:cs typeface="Trebuchet MS" panose="020B0603020202020204"/>
                        </a:rPr>
                        <a:t>Method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0565">
                        <a:lnSpc>
                          <a:spcPts val="1685"/>
                        </a:lnSpc>
                      </a:pPr>
                      <a:r>
                        <a:rPr sz="1450" spc="-10" dirty="0">
                          <a:latin typeface="Trebuchet MS" panose="020B0603020202020204"/>
                          <a:cs typeface="Trebuchet MS" panose="020B0603020202020204"/>
                        </a:rPr>
                        <a:t>Execution</a:t>
                      </a:r>
                      <a:r>
                        <a:rPr sz="1450" spc="-14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450" spc="-20" dirty="0">
                          <a:latin typeface="Trebuchet MS" panose="020B0603020202020204"/>
                          <a:cs typeface="Trebuchet MS" panose="020B0603020202020204"/>
                        </a:rPr>
                        <a:t>Time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5135">
                        <a:lnSpc>
                          <a:spcPts val="1685"/>
                        </a:lnSpc>
                      </a:pPr>
                      <a:r>
                        <a:rPr sz="1450" spc="-10" dirty="0">
                          <a:latin typeface="Trebuchet MS" panose="020B0603020202020204"/>
                          <a:cs typeface="Trebuchet MS" panose="020B0603020202020204"/>
                        </a:rPr>
                        <a:t>Speedup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/>
                </a:tc>
              </a:tr>
              <a:tr h="340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50" spc="-10" dirty="0">
                          <a:latin typeface="Trebuchet MS" panose="020B0603020202020204"/>
                          <a:cs typeface="Trebuchet MS" panose="020B0603020202020204"/>
                        </a:rPr>
                        <a:t>Serial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71056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50" spc="-20" dirty="0">
                          <a:latin typeface="Trebuchet MS" panose="020B0603020202020204"/>
                          <a:cs typeface="Trebuchet MS" panose="020B0603020202020204"/>
                        </a:rPr>
                        <a:t>High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4451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50" spc="-25" dirty="0">
                          <a:latin typeface="Trebuchet MS" panose="020B0603020202020204"/>
                          <a:cs typeface="Trebuchet MS" panose="020B0603020202020204"/>
                        </a:rPr>
                        <a:t>1×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48260" marB="0"/>
                </a:tc>
              </a:tr>
              <a:tr h="340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50" spc="40" dirty="0">
                          <a:latin typeface="Trebuchet MS" panose="020B0603020202020204"/>
                          <a:cs typeface="Trebuchet MS" panose="020B0603020202020204"/>
                        </a:rPr>
                        <a:t>OpenMP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71056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50" spc="-10" dirty="0">
                          <a:latin typeface="Trebuchet MS" panose="020B0603020202020204"/>
                          <a:cs typeface="Trebuchet MS" panose="020B0603020202020204"/>
                        </a:rPr>
                        <a:t>Medium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4451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50" spc="30" dirty="0">
                          <a:latin typeface="Trebuchet MS" panose="020B0603020202020204"/>
                          <a:cs typeface="Trebuchet MS" panose="020B0603020202020204"/>
                        </a:rPr>
                        <a:t>4–8×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48260" marB="0"/>
                </a:tc>
              </a:tr>
              <a:tr h="340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50" spc="25" dirty="0">
                          <a:latin typeface="Trebuchet MS" panose="020B0603020202020204"/>
                          <a:cs typeface="Trebuchet MS" panose="020B0603020202020204"/>
                        </a:rPr>
                        <a:t>MPI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71056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50" spc="-25" dirty="0">
                          <a:latin typeface="Trebuchet MS" panose="020B0603020202020204"/>
                          <a:cs typeface="Trebuchet MS" panose="020B0603020202020204"/>
                        </a:rPr>
                        <a:t>Low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4451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50" spc="-10" dirty="0">
                          <a:latin typeface="Trebuchet MS" panose="020B0603020202020204"/>
                          <a:cs typeface="Trebuchet MS" panose="020B0603020202020204"/>
                        </a:rPr>
                        <a:t>10–20×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48260" marB="0"/>
                </a:tc>
              </a:tr>
              <a:tr h="2857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50" spc="70" dirty="0">
                          <a:latin typeface="Trebuchet MS" panose="020B0603020202020204"/>
                          <a:cs typeface="Trebuchet MS" panose="020B0603020202020204"/>
                        </a:rPr>
                        <a:t>CUDA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71056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50" spc="-45" dirty="0">
                          <a:latin typeface="Trebuchet MS" panose="020B0603020202020204"/>
                          <a:cs typeface="Trebuchet MS" panose="020B0603020202020204"/>
                        </a:rPr>
                        <a:t>Very</a:t>
                      </a:r>
                      <a:r>
                        <a:rPr sz="1450" spc="-13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450" spc="-25" dirty="0">
                          <a:latin typeface="Trebuchet MS" panose="020B0603020202020204"/>
                          <a:cs typeface="Trebuchet MS" panose="020B0603020202020204"/>
                        </a:rPr>
                        <a:t>Low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4451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450" spc="-20" dirty="0">
                          <a:latin typeface="Trebuchet MS" panose="020B0603020202020204"/>
                          <a:cs typeface="Trebuchet MS" panose="020B0603020202020204"/>
                        </a:rPr>
                        <a:t>50×+</a:t>
                      </a:r>
                      <a:endParaRPr sz="145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48260" marB="0"/>
                </a:tc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159500" y="1761490"/>
            <a:ext cx="3491865" cy="510095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8382000" y="2086610"/>
            <a:ext cx="942340" cy="5041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8382000" y="3205480"/>
            <a:ext cx="481330" cy="6807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8458200" y="4669790"/>
            <a:ext cx="462280" cy="5880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35" y="1066729"/>
            <a:ext cx="825563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Times New Roman" panose="02020603050405020304" charset="0"/>
                <a:cs typeface="Times New Roman" panose="02020603050405020304" charset="0"/>
              </a:rPr>
              <a:t>Graphical</a:t>
            </a:r>
            <a:r>
              <a:rPr sz="4000" spc="-2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4000" spc="-10" dirty="0">
                <a:latin typeface="Times New Roman" panose="02020603050405020304" charset="0"/>
                <a:cs typeface="Times New Roman" panose="02020603050405020304" charset="0"/>
              </a:rPr>
              <a:t>Analysis</a:t>
            </a:r>
            <a:endParaRPr sz="40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3909" y="2473815"/>
            <a:ext cx="6337300" cy="280479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01295" indent="-188595">
              <a:lnSpc>
                <a:spcPct val="140000"/>
              </a:lnSpc>
              <a:spcBef>
                <a:spcPts val="585"/>
              </a:spcBef>
              <a:buChar char="•"/>
              <a:tabLst>
                <a:tab pos="201295" algn="l"/>
              </a:tabLst>
            </a:pPr>
            <a:r>
              <a:rPr sz="2950" dirty="0">
                <a:latin typeface="Times New Roman" panose="02020603050405020304" charset="0"/>
                <a:cs typeface="Times New Roman" panose="02020603050405020304" charset="0"/>
              </a:rPr>
              <a:t>Execution</a:t>
            </a:r>
            <a:r>
              <a:rPr sz="2950" spc="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950" dirty="0">
                <a:latin typeface="Times New Roman" panose="02020603050405020304" charset="0"/>
                <a:cs typeface="Times New Roman" panose="02020603050405020304" charset="0"/>
              </a:rPr>
              <a:t>time</a:t>
            </a:r>
            <a:r>
              <a:rPr sz="2950" spc="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950" dirty="0">
                <a:latin typeface="Times New Roman" panose="02020603050405020304" charset="0"/>
                <a:cs typeface="Times New Roman" panose="02020603050405020304" charset="0"/>
              </a:rPr>
              <a:t>vs</a:t>
            </a:r>
            <a:r>
              <a:rPr sz="2950" spc="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950" dirty="0">
                <a:latin typeface="Times New Roman" panose="02020603050405020304" charset="0"/>
                <a:cs typeface="Times New Roman" panose="02020603050405020304" charset="0"/>
              </a:rPr>
              <a:t>number of</a:t>
            </a:r>
            <a:r>
              <a:rPr sz="2950" spc="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950" spc="-10" dirty="0">
                <a:latin typeface="Times New Roman" panose="02020603050405020304" charset="0"/>
                <a:cs typeface="Times New Roman" panose="02020603050405020304" charset="0"/>
              </a:rPr>
              <a:t>threads</a:t>
            </a:r>
            <a:endParaRPr sz="2950">
              <a:latin typeface="Times New Roman" panose="02020603050405020304" charset="0"/>
              <a:cs typeface="Times New Roman" panose="02020603050405020304" charset="0"/>
            </a:endParaRPr>
          </a:p>
          <a:p>
            <a:pPr marL="201295" indent="-188595">
              <a:lnSpc>
                <a:spcPct val="140000"/>
              </a:lnSpc>
              <a:spcBef>
                <a:spcPts val="495"/>
              </a:spcBef>
              <a:buChar char="•"/>
              <a:tabLst>
                <a:tab pos="201295" algn="l"/>
              </a:tabLst>
            </a:pPr>
            <a:r>
              <a:rPr sz="2950" dirty="0">
                <a:latin typeface="Times New Roman" panose="02020603050405020304" charset="0"/>
                <a:cs typeface="Times New Roman" panose="02020603050405020304" charset="0"/>
              </a:rPr>
              <a:t>Speedup</a:t>
            </a:r>
            <a:r>
              <a:rPr sz="2950" spc="10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950" spc="-10" dirty="0">
                <a:latin typeface="Times New Roman" panose="02020603050405020304" charset="0"/>
                <a:cs typeface="Times New Roman" panose="02020603050405020304" charset="0"/>
              </a:rPr>
              <a:t>comparison</a:t>
            </a:r>
            <a:endParaRPr sz="2950">
              <a:latin typeface="Times New Roman" panose="02020603050405020304" charset="0"/>
              <a:cs typeface="Times New Roman" panose="02020603050405020304" charset="0"/>
            </a:endParaRPr>
          </a:p>
          <a:p>
            <a:pPr marL="201295" indent="-188595">
              <a:lnSpc>
                <a:spcPct val="140000"/>
              </a:lnSpc>
              <a:spcBef>
                <a:spcPts val="490"/>
              </a:spcBef>
              <a:buChar char="•"/>
              <a:tabLst>
                <a:tab pos="201295" algn="l"/>
              </a:tabLst>
            </a:pPr>
            <a:r>
              <a:rPr sz="2950" dirty="0">
                <a:latin typeface="Times New Roman" panose="02020603050405020304" charset="0"/>
                <a:cs typeface="Times New Roman" panose="02020603050405020304" charset="0"/>
              </a:rPr>
              <a:t>Scalability</a:t>
            </a:r>
            <a:r>
              <a:rPr sz="295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950" spc="-20" dirty="0">
                <a:latin typeface="Times New Roman" panose="02020603050405020304" charset="0"/>
                <a:cs typeface="Times New Roman" panose="02020603050405020304" charset="0"/>
              </a:rPr>
              <a:t>graph</a:t>
            </a:r>
            <a:endParaRPr sz="2950">
              <a:latin typeface="Times New Roman" panose="02020603050405020304" charset="0"/>
              <a:cs typeface="Times New Roman" panose="02020603050405020304" charset="0"/>
            </a:endParaRPr>
          </a:p>
          <a:p>
            <a:pPr marL="201295" indent="-188595">
              <a:lnSpc>
                <a:spcPct val="140000"/>
              </a:lnSpc>
              <a:spcBef>
                <a:spcPts val="490"/>
              </a:spcBef>
              <a:buChar char="•"/>
              <a:tabLst>
                <a:tab pos="201295" algn="l"/>
              </a:tabLst>
            </a:pPr>
            <a:r>
              <a:rPr sz="2950" dirty="0">
                <a:latin typeface="Times New Roman" panose="02020603050405020304" charset="0"/>
                <a:cs typeface="Times New Roman" panose="02020603050405020304" charset="0"/>
              </a:rPr>
              <a:t>(Insert</a:t>
            </a:r>
            <a:r>
              <a:rPr sz="2950" spc="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950" spc="-10" dirty="0">
                <a:latin typeface="Times New Roman" panose="02020603050405020304" charset="0"/>
                <a:cs typeface="Times New Roman" panose="02020603050405020304" charset="0"/>
              </a:rPr>
              <a:t>charts)</a:t>
            </a:r>
            <a:endParaRPr sz="295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0878" y="1255166"/>
            <a:ext cx="3405739" cy="27157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444" y="3887724"/>
            <a:ext cx="3948683" cy="25466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06567" y="1057656"/>
            <a:ext cx="4029455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35" y="1142929"/>
            <a:ext cx="825563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latin typeface="Times New Roman" panose="02020603050405020304" charset="0"/>
                <a:cs typeface="Times New Roman" panose="02020603050405020304" charset="0"/>
              </a:rPr>
              <a:t>Observations</a:t>
            </a:r>
            <a:endParaRPr sz="40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3795" y="2395163"/>
            <a:ext cx="7877809" cy="1784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8905" indent="-125095">
              <a:lnSpc>
                <a:spcPct val="145000"/>
              </a:lnSpc>
              <a:spcBef>
                <a:spcPts val="90"/>
              </a:spcBef>
              <a:buSzPct val="96000"/>
              <a:buChar char="•"/>
              <a:tabLst>
                <a:tab pos="128905" algn="l"/>
              </a:tabLst>
            </a:pP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OpenMP</a:t>
            </a:r>
            <a:r>
              <a:rPr sz="2650" spc="-1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improves</a:t>
            </a:r>
            <a:r>
              <a:rPr sz="2650" spc="-9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performance</a:t>
            </a:r>
            <a:r>
              <a:rPr sz="265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on</a:t>
            </a:r>
            <a:r>
              <a:rPr sz="265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spc="-25" dirty="0">
                <a:latin typeface="Times New Roman" panose="02020603050405020304" charset="0"/>
                <a:cs typeface="Times New Roman" panose="02020603050405020304" charset="0"/>
              </a:rPr>
              <a:t>multi-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core</a:t>
            </a:r>
            <a:r>
              <a:rPr sz="2650" spc="-10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spc="-20" dirty="0">
                <a:latin typeface="Times New Roman" panose="02020603050405020304" charset="0"/>
                <a:cs typeface="Times New Roman" panose="02020603050405020304" charset="0"/>
              </a:rPr>
              <a:t>CPUs</a:t>
            </a:r>
            <a:endParaRPr sz="2650">
              <a:latin typeface="Times New Roman" panose="02020603050405020304" charset="0"/>
              <a:cs typeface="Times New Roman" panose="02020603050405020304" charset="0"/>
            </a:endParaRPr>
          </a:p>
          <a:p>
            <a:pPr marL="128905" indent="-125095">
              <a:lnSpc>
                <a:spcPct val="145000"/>
              </a:lnSpc>
              <a:buSzPct val="96000"/>
              <a:buChar char="•"/>
              <a:tabLst>
                <a:tab pos="128905" algn="l"/>
              </a:tabLst>
            </a:pP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MPI</a:t>
            </a:r>
            <a:r>
              <a:rPr sz="265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scales</a:t>
            </a:r>
            <a:r>
              <a:rPr sz="2650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well</a:t>
            </a:r>
            <a:r>
              <a:rPr sz="265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across</a:t>
            </a:r>
            <a:r>
              <a:rPr sz="265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multiple</a:t>
            </a:r>
            <a:r>
              <a:rPr sz="265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spc="-10" dirty="0">
                <a:latin typeface="Times New Roman" panose="02020603050405020304" charset="0"/>
                <a:cs typeface="Times New Roman" panose="02020603050405020304" charset="0"/>
              </a:rPr>
              <a:t>nodes</a:t>
            </a:r>
            <a:endParaRPr sz="2650">
              <a:latin typeface="Times New Roman" panose="02020603050405020304" charset="0"/>
              <a:cs typeface="Times New Roman" panose="02020603050405020304" charset="0"/>
            </a:endParaRPr>
          </a:p>
          <a:p>
            <a:pPr marL="128905" indent="-125095">
              <a:lnSpc>
                <a:spcPct val="145000"/>
              </a:lnSpc>
              <a:buSzPct val="96000"/>
              <a:buChar char="•"/>
              <a:tabLst>
                <a:tab pos="128905" algn="l"/>
              </a:tabLst>
            </a:pP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GPU</a:t>
            </a:r>
            <a:r>
              <a:rPr sz="265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spc="-10" dirty="0">
                <a:latin typeface="Times New Roman" panose="02020603050405020304" charset="0"/>
                <a:cs typeface="Times New Roman" panose="02020603050405020304" charset="0"/>
              </a:rPr>
              <a:t>acceleration</a:t>
            </a:r>
            <a:r>
              <a:rPr sz="265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is</a:t>
            </a:r>
            <a:r>
              <a:rPr sz="265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best</a:t>
            </a:r>
            <a:r>
              <a:rPr sz="265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65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large</a:t>
            </a:r>
            <a:r>
              <a:rPr sz="2650" spc="-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spc="-10" dirty="0">
                <a:latin typeface="Times New Roman" panose="02020603050405020304" charset="0"/>
                <a:cs typeface="Times New Roman" panose="02020603050405020304" charset="0"/>
              </a:rPr>
              <a:t>simulations</a:t>
            </a:r>
            <a:endParaRPr sz="265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35" y="1219129"/>
            <a:ext cx="825563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latin typeface="Times New Roman" panose="02020603050405020304" charset="0"/>
                <a:cs typeface="Times New Roman" panose="02020603050405020304" charset="0"/>
              </a:rPr>
              <a:t>Advantages</a:t>
            </a:r>
            <a:r>
              <a:rPr sz="4000" spc="-1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4000" dirty="0"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4000" spc="-1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4000" spc="-20" dirty="0">
                <a:latin typeface="Times New Roman" panose="02020603050405020304" charset="0"/>
                <a:cs typeface="Times New Roman" panose="02020603050405020304" charset="0"/>
              </a:rPr>
              <a:t>Parallel</a:t>
            </a:r>
            <a:r>
              <a:rPr sz="4000" spc="-1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4000" spc="-10" dirty="0">
                <a:latin typeface="Times New Roman" panose="02020603050405020304" charset="0"/>
                <a:cs typeface="Times New Roman" panose="02020603050405020304" charset="0"/>
              </a:rPr>
              <a:t>Approach</a:t>
            </a:r>
            <a:endParaRPr sz="4000" spc="-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3745" y="2857500"/>
            <a:ext cx="5383530" cy="2309495"/>
          </a:xfrm>
          <a:prstGeom prst="rect">
            <a:avLst/>
          </a:prstGeom>
        </p:spPr>
        <p:txBody>
          <a:bodyPr vert="horz" wrap="square" lIns="0" tIns="11430" rIns="0" bIns="0" rtlCol="0">
            <a:noAutofit/>
          </a:bodyPr>
          <a:lstStyle/>
          <a:p>
            <a:pPr marL="128905" indent="-125095">
              <a:lnSpc>
                <a:spcPct val="125000"/>
              </a:lnSpc>
              <a:spcBef>
                <a:spcPts val="90"/>
              </a:spcBef>
              <a:buSzPct val="96000"/>
              <a:buChar char="•"/>
              <a:tabLst>
                <a:tab pos="128905" algn="l"/>
              </a:tabLst>
            </a:pP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Faster</a:t>
            </a:r>
            <a:r>
              <a:rPr sz="265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spc="-10" dirty="0">
                <a:latin typeface="Times New Roman" panose="02020603050405020304" charset="0"/>
                <a:cs typeface="Times New Roman" panose="02020603050405020304" charset="0"/>
              </a:rPr>
              <a:t>computation</a:t>
            </a:r>
            <a:endParaRPr sz="2650">
              <a:latin typeface="Times New Roman" panose="02020603050405020304" charset="0"/>
              <a:cs typeface="Times New Roman" panose="02020603050405020304" charset="0"/>
            </a:endParaRPr>
          </a:p>
          <a:p>
            <a:pPr marL="128905" indent="-125095">
              <a:lnSpc>
                <a:spcPct val="125000"/>
              </a:lnSpc>
              <a:buSzPct val="96000"/>
              <a:buChar char="•"/>
              <a:tabLst>
                <a:tab pos="128905" algn="l"/>
              </a:tabLst>
            </a:pP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Enables</a:t>
            </a:r>
            <a:r>
              <a:rPr sz="265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spc="-30" dirty="0">
                <a:latin typeface="Times New Roman" panose="02020603050405020304" charset="0"/>
                <a:cs typeface="Times New Roman" panose="02020603050405020304" charset="0"/>
              </a:rPr>
              <a:t>real-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time</a:t>
            </a:r>
            <a:r>
              <a:rPr sz="265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risk</a:t>
            </a:r>
            <a:r>
              <a:rPr sz="265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spc="-10" dirty="0">
                <a:latin typeface="Times New Roman" panose="02020603050405020304" charset="0"/>
                <a:cs typeface="Times New Roman" panose="02020603050405020304" charset="0"/>
              </a:rPr>
              <a:t>analysis</a:t>
            </a:r>
            <a:endParaRPr sz="2650">
              <a:latin typeface="Times New Roman" panose="02020603050405020304" charset="0"/>
              <a:cs typeface="Times New Roman" panose="02020603050405020304" charset="0"/>
            </a:endParaRPr>
          </a:p>
          <a:p>
            <a:pPr marL="128905" indent="-125095">
              <a:lnSpc>
                <a:spcPct val="125000"/>
              </a:lnSpc>
              <a:buSzPct val="96000"/>
              <a:buChar char="•"/>
              <a:tabLst>
                <a:tab pos="128905" algn="l"/>
              </a:tabLst>
            </a:pP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Handles</a:t>
            </a:r>
            <a:r>
              <a:rPr sz="265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spc="-25" dirty="0">
                <a:latin typeface="Times New Roman" panose="02020603050405020304" charset="0"/>
                <a:cs typeface="Times New Roman" panose="02020603050405020304" charset="0"/>
              </a:rPr>
              <a:t>large-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scale</a:t>
            </a:r>
            <a:r>
              <a:rPr sz="265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spc="-10" dirty="0">
                <a:latin typeface="Times New Roman" panose="02020603050405020304" charset="0"/>
                <a:cs typeface="Times New Roman" panose="02020603050405020304" charset="0"/>
              </a:rPr>
              <a:t>simulations</a:t>
            </a:r>
            <a:endParaRPr sz="2650">
              <a:latin typeface="Times New Roman" panose="02020603050405020304" charset="0"/>
              <a:cs typeface="Times New Roman" panose="02020603050405020304" charset="0"/>
            </a:endParaRPr>
          </a:p>
          <a:p>
            <a:pPr marL="128905" indent="-125095">
              <a:lnSpc>
                <a:spcPct val="125000"/>
              </a:lnSpc>
              <a:buSzPct val="96000"/>
              <a:buChar char="•"/>
              <a:tabLst>
                <a:tab pos="128905" algn="l"/>
              </a:tabLst>
            </a:pPr>
            <a:r>
              <a:rPr sz="2650" spc="-10" dirty="0">
                <a:latin typeface="Times New Roman" panose="02020603050405020304" charset="0"/>
                <a:cs typeface="Times New Roman" panose="02020603050405020304" charset="0"/>
              </a:rPr>
              <a:t>Efficient</a:t>
            </a:r>
            <a:r>
              <a:rPr sz="265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use</a:t>
            </a:r>
            <a:r>
              <a:rPr sz="265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265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dirty="0">
                <a:latin typeface="Times New Roman" panose="02020603050405020304" charset="0"/>
                <a:cs typeface="Times New Roman" panose="02020603050405020304" charset="0"/>
              </a:rPr>
              <a:t>hardware</a:t>
            </a:r>
            <a:r>
              <a:rPr sz="265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650" spc="-10" dirty="0">
                <a:latin typeface="Times New Roman" panose="02020603050405020304" charset="0"/>
                <a:cs typeface="Times New Roman" panose="02020603050405020304" charset="0"/>
              </a:rPr>
              <a:t>resources</a:t>
            </a:r>
            <a:endParaRPr sz="265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35" y="1142929"/>
            <a:ext cx="825563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0" dirty="0"/>
              <a:t>Conclusion</a:t>
            </a:r>
            <a:endParaRPr sz="40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53745" y="2875915"/>
            <a:ext cx="8261350" cy="2368550"/>
          </a:xfrm>
          <a:prstGeom prst="rect">
            <a:avLst/>
          </a:prstGeom>
        </p:spPr>
        <p:txBody>
          <a:bodyPr vert="horz" wrap="square" lIns="0" tIns="14604" rIns="0" bIns="0" rtlCol="0">
            <a:noAutofit/>
          </a:bodyPr>
          <a:lstStyle/>
          <a:p>
            <a:pPr marL="114935" indent="-111125">
              <a:lnSpc>
                <a:spcPct val="160000"/>
              </a:lnSpc>
              <a:spcBef>
                <a:spcPts val="115"/>
              </a:spcBef>
              <a:buSzPct val="96000"/>
              <a:buChar char="•"/>
              <a:tabLst>
                <a:tab pos="114935" algn="l"/>
              </a:tabLst>
            </a:pP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Monte</a:t>
            </a:r>
            <a:r>
              <a:rPr sz="2300" spc="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Carlo</a:t>
            </a:r>
            <a:r>
              <a:rPr sz="2300" spc="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simulation</a:t>
            </a:r>
            <a:r>
              <a:rPr sz="2300" spc="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is</a:t>
            </a:r>
            <a:r>
              <a:rPr sz="2300" spc="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ideal</a:t>
            </a:r>
            <a:r>
              <a:rPr sz="2300" spc="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300" spc="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spc="-10" dirty="0">
                <a:latin typeface="Times New Roman" panose="02020603050405020304" charset="0"/>
                <a:cs typeface="Times New Roman" panose="02020603050405020304" charset="0"/>
              </a:rPr>
              <a:t>parallelization</a:t>
            </a:r>
            <a:endParaRPr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60000"/>
              </a:lnSpc>
              <a:spcBef>
                <a:spcPts val="10"/>
              </a:spcBef>
              <a:buSzPct val="96000"/>
              <a:buChar char="•"/>
              <a:tabLst>
                <a:tab pos="114935" algn="l"/>
              </a:tabLst>
            </a:pP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OpenMP</a:t>
            </a:r>
            <a:r>
              <a:rPr sz="230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is</a:t>
            </a:r>
            <a:r>
              <a:rPr sz="2300" spc="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simple</a:t>
            </a:r>
            <a:r>
              <a:rPr sz="2300" spc="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300" spc="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effective</a:t>
            </a:r>
            <a:r>
              <a:rPr sz="2300" spc="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300" spc="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shared</a:t>
            </a:r>
            <a:r>
              <a:rPr sz="2300" spc="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spc="-10" dirty="0">
                <a:latin typeface="Times New Roman" panose="02020603050405020304" charset="0"/>
                <a:cs typeface="Times New Roman" panose="02020603050405020304" charset="0"/>
              </a:rPr>
              <a:t>memory</a:t>
            </a:r>
            <a:endParaRPr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60000"/>
              </a:lnSpc>
              <a:spcBef>
                <a:spcPts val="15"/>
              </a:spcBef>
              <a:buSzPct val="96000"/>
              <a:buChar char="•"/>
              <a:tabLst>
                <a:tab pos="114935" algn="l"/>
              </a:tabLst>
            </a:pP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MPI</a:t>
            </a:r>
            <a:r>
              <a:rPr sz="2300" spc="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is</a:t>
            </a:r>
            <a:r>
              <a:rPr sz="2300" spc="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scalable</a:t>
            </a:r>
            <a:r>
              <a:rPr sz="2300" spc="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300" spc="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distributed</a:t>
            </a:r>
            <a:r>
              <a:rPr sz="2300" spc="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spc="-10" dirty="0">
                <a:latin typeface="Times New Roman" panose="02020603050405020304" charset="0"/>
                <a:cs typeface="Times New Roman" panose="02020603050405020304" charset="0"/>
              </a:rPr>
              <a:t>systems</a:t>
            </a:r>
            <a:endParaRPr sz="2300">
              <a:latin typeface="Times New Roman" panose="02020603050405020304" charset="0"/>
              <a:cs typeface="Times New Roman" panose="02020603050405020304" charset="0"/>
            </a:endParaRPr>
          </a:p>
          <a:p>
            <a:pPr marL="114935" indent="-111125">
              <a:lnSpc>
                <a:spcPct val="160000"/>
              </a:lnSpc>
              <a:spcBef>
                <a:spcPts val="15"/>
              </a:spcBef>
              <a:buSzPct val="96000"/>
              <a:buChar char="•"/>
              <a:tabLst>
                <a:tab pos="114935" algn="l"/>
              </a:tabLst>
            </a:pP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Parallel</a:t>
            </a:r>
            <a:r>
              <a:rPr sz="2300" spc="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computing</a:t>
            </a:r>
            <a:r>
              <a:rPr sz="2300" spc="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significantly</a:t>
            </a:r>
            <a:r>
              <a:rPr sz="2300" spc="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improves</a:t>
            </a:r>
            <a:r>
              <a:rPr sz="2300" spc="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financial</a:t>
            </a:r>
            <a:r>
              <a:rPr sz="2300" spc="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dirty="0">
                <a:latin typeface="Times New Roman" panose="02020603050405020304" charset="0"/>
                <a:cs typeface="Times New Roman" panose="02020603050405020304" charset="0"/>
              </a:rPr>
              <a:t>risk</a:t>
            </a:r>
            <a:r>
              <a:rPr sz="2300" spc="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 spc="-10" dirty="0">
                <a:latin typeface="Times New Roman" panose="02020603050405020304" charset="0"/>
                <a:cs typeface="Times New Roman" panose="02020603050405020304" charset="0"/>
              </a:rPr>
              <a:t>analysi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s</a:t>
            </a:r>
            <a:endParaRPr sz="2300">
              <a:latin typeface="Microsoft Sans Serif" panose="020B0604020202020204"/>
              <a:cs typeface="Microsoft Sans Serif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53745" y="2790190"/>
            <a:ext cx="3849370" cy="2277745"/>
          </a:xfrm>
          <a:prstGeom prst="rect">
            <a:avLst/>
          </a:prstGeom>
        </p:spPr>
        <p:txBody>
          <a:bodyPr vert="horz" wrap="square" lIns="0" tIns="14604" rIns="0" bIns="0" rtlCol="0">
            <a:noAutofit/>
          </a:bodyPr>
          <a:lstStyle/>
          <a:p>
            <a:pPr marL="114935" indent="-111125">
              <a:lnSpc>
                <a:spcPct val="100000"/>
              </a:lnSpc>
              <a:spcBef>
                <a:spcPts val="115"/>
              </a:spcBef>
              <a:buSzPct val="96000"/>
              <a:buChar char="•"/>
              <a:tabLst>
                <a:tab pos="114935" algn="l"/>
              </a:tabLst>
            </a:pP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Multi-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GPU</a:t>
            </a:r>
            <a:r>
              <a:rPr sz="2300" spc="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implementation</a:t>
            </a:r>
            <a:endParaRPr sz="2300">
              <a:latin typeface="Microsoft Sans Serif" panose="020B0604020202020204"/>
              <a:cs typeface="Microsoft Sans Serif" panose="020B0604020202020204"/>
            </a:endParaRPr>
          </a:p>
          <a:p>
            <a:pPr marL="114935" indent="-111125">
              <a:lnSpc>
                <a:spcPct val="100000"/>
              </a:lnSpc>
              <a:spcBef>
                <a:spcPts val="10"/>
              </a:spcBef>
              <a:buSzPct val="96000"/>
              <a:buChar char="•"/>
              <a:tabLst>
                <a:tab pos="114935" algn="l"/>
              </a:tabLst>
            </a:pP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Hybrid</a:t>
            </a:r>
            <a:r>
              <a:rPr sz="2300" spc="5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MPI +</a:t>
            </a:r>
            <a:r>
              <a:rPr sz="2300" spc="3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OpenMP</a:t>
            </a:r>
            <a:endParaRPr sz="2300">
              <a:latin typeface="Microsoft Sans Serif" panose="020B0604020202020204"/>
              <a:cs typeface="Microsoft Sans Serif" panose="020B0604020202020204"/>
            </a:endParaRPr>
          </a:p>
          <a:p>
            <a:pPr marL="114935" indent="-111125">
              <a:lnSpc>
                <a:spcPct val="100000"/>
              </a:lnSpc>
              <a:spcBef>
                <a:spcPts val="15"/>
              </a:spcBef>
              <a:buSzPct val="96000"/>
              <a:buChar char="•"/>
              <a:tabLst>
                <a:tab pos="114935" algn="l"/>
              </a:tabLst>
            </a:pP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Real</a:t>
            </a:r>
            <a:r>
              <a:rPr sz="2300" spc="4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market</a:t>
            </a:r>
            <a:r>
              <a:rPr sz="2300" spc="3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2300" spc="4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integration</a:t>
            </a:r>
            <a:endParaRPr sz="2300">
              <a:latin typeface="Microsoft Sans Serif" panose="020B0604020202020204"/>
              <a:cs typeface="Microsoft Sans Serif" panose="020B0604020202020204"/>
            </a:endParaRPr>
          </a:p>
          <a:p>
            <a:pPr marL="114935" indent="-111125">
              <a:lnSpc>
                <a:spcPct val="100000"/>
              </a:lnSpc>
              <a:spcBef>
                <a:spcPts val="10"/>
              </a:spcBef>
              <a:buSzPct val="96000"/>
              <a:buChar char="•"/>
              <a:tabLst>
                <a:tab pos="114935" algn="l"/>
              </a:tabLst>
            </a:pP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Advanced</a:t>
            </a:r>
            <a:r>
              <a:rPr sz="2300" spc="70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dirty="0">
                <a:latin typeface="Microsoft Sans Serif" panose="020B0604020202020204"/>
                <a:cs typeface="Microsoft Sans Serif" panose="020B0604020202020204"/>
              </a:rPr>
              <a:t>stochastic</a:t>
            </a:r>
            <a:r>
              <a:rPr sz="2300" spc="15" dirty="0"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300" spc="-10" dirty="0">
                <a:latin typeface="Microsoft Sans Serif" panose="020B0604020202020204"/>
                <a:cs typeface="Microsoft Sans Serif" panose="020B0604020202020204"/>
              </a:rPr>
              <a:t>models</a:t>
            </a:r>
            <a:endParaRPr sz="2300">
              <a:latin typeface="Microsoft Sans Serif" panose="020B0604020202020204"/>
              <a:cs typeface="Microsoft Sans Serif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4279</Words>
  <Application>WPS Presentation</Application>
  <PresentationFormat>On-screen Show (4:3)</PresentationFormat>
  <Paragraphs>248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0" baseType="lpstr">
      <vt:lpstr>Arial</vt:lpstr>
      <vt:lpstr>SimSun</vt:lpstr>
      <vt:lpstr>Wingdings</vt:lpstr>
      <vt:lpstr>Calibri</vt:lpstr>
      <vt:lpstr>Microsoft Sans Serif</vt:lpstr>
      <vt:lpstr>Arial</vt:lpstr>
      <vt:lpstr>Trebuchet MS</vt:lpstr>
      <vt:lpstr>Microsoft YaHei</vt:lpstr>
      <vt:lpstr>Arial Unicode MS</vt:lpstr>
      <vt:lpstr>Open Sauce</vt:lpstr>
      <vt:lpstr>Segoe Print</vt:lpstr>
      <vt:lpstr>Calibri</vt:lpstr>
      <vt:lpstr>Times New Roman</vt:lpstr>
      <vt:lpstr>Open Sauce Bold</vt:lpstr>
      <vt:lpstr>Matura MT Script Capitals</vt:lpstr>
      <vt:lpstr>Microsoft Himalaya</vt:lpstr>
      <vt:lpstr>Tahoma</vt:lpstr>
      <vt:lpstr>Maiandra GD</vt:lpstr>
      <vt:lpstr>Tw Cen MT</vt:lpstr>
      <vt:lpstr>Office Theme</vt:lpstr>
      <vt:lpstr>Monte Carlo Simulation for Financial Risk</vt:lpstr>
      <vt:lpstr>Introduction</vt:lpstr>
      <vt:lpstr>PowerPoint 演示文稿</vt:lpstr>
      <vt:lpstr>Problem Statement</vt:lpstr>
      <vt:lpstr>PowerPoint 演示文稿</vt:lpstr>
      <vt:lpstr>Objectives</vt:lpstr>
      <vt:lpstr>Monte Carlo Simulation Overview</vt:lpstr>
      <vt:lpstr>Financial Risk Model</vt:lpstr>
      <vt:lpstr>Sequential Algorithm</vt:lpstr>
      <vt:lpstr>Why Parallel Computing?</vt:lpstr>
      <vt:lpstr>OpenMP Implementation</vt:lpstr>
      <vt:lpstr>MPI Implementation</vt:lpstr>
      <vt:lpstr>Experimental Setup</vt:lpstr>
      <vt:lpstr>Results (Sample)</vt:lpstr>
      <vt:lpstr>Graphical Analysis</vt:lpstr>
      <vt:lpstr>PowerPoint 演示文稿</vt:lpstr>
      <vt:lpstr>Observations</vt:lpstr>
      <vt:lpstr>Advantages of Parallel Approach</vt:lpstr>
      <vt:lpstr>Conclusion</vt:lpstr>
      <vt:lpstr>Future Scope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Monte Carlo Simulation for Financial Risk</dc:title>
  <dc:creator>CBP</dc:creator>
  <cp:lastModifiedBy>cbp</cp:lastModifiedBy>
  <cp:revision>2</cp:revision>
  <dcterms:created xsi:type="dcterms:W3CDTF">2025-12-23T08:19:03Z</dcterms:created>
  <dcterms:modified xsi:type="dcterms:W3CDTF">2025-12-23T08:19:27Z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2025-12-23T05:30:00Z</vt:filetime>
  </property>
  <property fmtid="{D5CDD505-2E9C-101B-9397-08002B2CF9AE}" pid="3" name="LastSaved">
    <vt:filetime>2025-12-23T05:30:00Z</vt:filetime>
  </property>
  <property fmtid="{D5CDD505-2E9C-101B-9397-08002B2CF9AE}" pid="4" name="Producer">
    <vt:lpwstr>Microsoft: Print To PDF</vt:lpwstr>
  </property>
  <property fmtid="{D5CDD505-2E9C-101B-9397-08002B2CF9AE}" pid="5" name="ICV">
    <vt:lpwstr>AD4A9E9041EA4B65BB9B88E157830A85_13</vt:lpwstr>
  </property>
  <property fmtid="{D5CDD505-2E9C-101B-9397-08002B2CF9AE}" pid="6" name="KSOProductBuildVer">
    <vt:lpwstr>1033-12.2.0.17545</vt:lpwstr>
  </property>
</Properties>
</file>